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0" r:id="rId3"/>
    <p:sldMasterId id="214748365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1" r:id="rId10"/>
    <p:sldId id="260" r:id="rId11"/>
    <p:sldId id="262" r:id="rId12"/>
    <p:sldId id="263" r:id="rId13"/>
    <p:sldId id="265" r:id="rId14"/>
    <p:sldId id="264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embeddedFontLst>
    <p:embeddedFont>
      <p:font typeface="MiSans" charset="-122"/>
      <p:regular r:id="rId26"/>
    </p:embeddedFont>
    <p:embeddedFont>
      <p:font typeface="思源宋体"/>
      <p:regular r:id="rId27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Revised (n=18)</c:f>
              <c:strCache>
                <c:ptCount val="1"/>
                <c:pt idx="0">
                  <c:v>Revised (n=18)</c:v>
                </c:pt>
              </c:strCache>
            </c:strRef>
          </c:tx>
          <c:spPr>
            <a:solidFill>
              <a:srgbClr val="B96A4B"/>
            </a:solidFill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050" b="1" i="0" u="none" strike="noStrike" kern="1200" baseline="0">
                        <a:solidFill>
                          <a:srgbClr val="B96A4B"/>
                        </a:solidFill>
                        <a:latin typeface="MiSans" charset="-122"/>
                        <a:ea typeface="MiSans" charset="-122"/>
                        <a:cs typeface="MiSans" charset="-122"/>
                      </a:defRPr>
                    </a:pPr>
                    <a:r>
                      <a:rPr sz="1050" b="1">
                        <a:solidFill>
                          <a:srgbClr val="B96A4B"/>
                        </a:solidFill>
                        <a:latin typeface="MiSans" charset="-122"/>
                        <a:ea typeface="MiSans" charset="-122"/>
                        <a:cs typeface="MiSans" charset="-122"/>
                      </a:rPr>
                      <a:t>0/18</a:t>
                    </a:r>
                    <a:endParaRPr sz="1050" b="1">
                      <a:solidFill>
                        <a:srgbClr val="B96A4B"/>
                      </a:solidFill>
                      <a:latin typeface="MiSans" charset="-122"/>
                      <a:ea typeface="MiSans" charset="-122"/>
                      <a:cs typeface="MiSans" charset="-122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50" b="1" i="0" u="none" strike="noStrike" kern="1200" baseline="0">
                      <a:solidFill>
                        <a:srgbClr val="B96A4B"/>
                      </a:solidFill>
                      <a:latin typeface="MiSans" charset="-122"/>
                      <a:ea typeface="MiSans" charset="-122"/>
                      <a:cs typeface="MiSans" charset="-122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050" b="1" i="0" u="none" strike="noStrike" kern="1200" baseline="0">
                        <a:solidFill>
                          <a:srgbClr val="B96A4B"/>
                        </a:solidFill>
                        <a:latin typeface="MiSans" charset="-122"/>
                        <a:ea typeface="MiSans" charset="-122"/>
                        <a:cs typeface="MiSans" charset="-122"/>
                      </a:defRPr>
                    </a:pPr>
                    <a:r>
                      <a:rPr sz="1050" b="1">
                        <a:solidFill>
                          <a:srgbClr val="B96A4B"/>
                        </a:solidFill>
                        <a:latin typeface="MiSans" charset="-122"/>
                        <a:ea typeface="MiSans" charset="-122"/>
                        <a:cs typeface="MiSans" charset="-122"/>
                      </a:rPr>
                      <a:t>6/18</a:t>
                    </a:r>
                    <a:endParaRPr sz="1050" b="1">
                      <a:solidFill>
                        <a:srgbClr val="B96A4B"/>
                      </a:solidFill>
                      <a:latin typeface="MiSans" charset="-122"/>
                      <a:ea typeface="MiSans" charset="-122"/>
                      <a:cs typeface="MiSans" charset="-122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50" b="1" i="0" u="none" strike="noStrike" kern="1200" baseline="0">
                      <a:solidFill>
                        <a:srgbClr val="B96A4B"/>
                      </a:solidFill>
                      <a:latin typeface="MiSans" charset="-122"/>
                      <a:ea typeface="MiSans" charset="-122"/>
                      <a:cs typeface="MiSans" charset="-122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050" b="1" i="0" u="none" strike="noStrike" kern="1200" baseline="0">
                        <a:solidFill>
                          <a:srgbClr val="B96A4B"/>
                        </a:solidFill>
                        <a:latin typeface="MiSans" charset="-122"/>
                        <a:ea typeface="MiSans" charset="-122"/>
                        <a:cs typeface="MiSans" charset="-122"/>
                      </a:defRPr>
                    </a:pPr>
                    <a:r>
                      <a:rPr sz="1050" b="1">
                        <a:solidFill>
                          <a:srgbClr val="B96A4B"/>
                        </a:solidFill>
                        <a:latin typeface="MiSans" charset="-122"/>
                        <a:ea typeface="MiSans" charset="-122"/>
                        <a:cs typeface="MiSans" charset="-122"/>
                      </a:rPr>
                      <a:t>18/18</a:t>
                    </a:r>
                    <a:endParaRPr sz="1050" b="1">
                      <a:solidFill>
                        <a:srgbClr val="B96A4B"/>
                      </a:solidFill>
                      <a:latin typeface="MiSans" charset="-122"/>
                      <a:ea typeface="MiSans" charset="-122"/>
                      <a:cs typeface="MiSans" charset="-122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50" b="1" i="0" u="none" strike="noStrike" kern="1200" baseline="0">
                      <a:solidFill>
                        <a:srgbClr val="B96A4B"/>
                      </a:solidFill>
                      <a:latin typeface="MiSans" charset="-122"/>
                      <a:ea typeface="MiSans" charset="-122"/>
                      <a:cs typeface="MiSans" charset="-122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Data'!$A$2:$A$4</c:f>
              <c:strCache>
                <c:ptCount val="3"/>
                <c:pt idx="0">
                  <c:v>Talking with companions</c:v>
                </c:pt>
                <c:pt idx="1">
                  <c:v>Choosing destinations</c:v>
                </c:pt>
                <c:pt idx="2">
                  <c:v>Daily routes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</c:v>
                </c:pt>
                <c:pt idx="1">
                  <c:v>0.333333333333333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Original (n=36)</c:f>
              <c:strCache>
                <c:ptCount val="1"/>
                <c:pt idx="0">
                  <c:v>Original (n=36)</c:v>
                </c:pt>
              </c:strCache>
            </c:strRef>
          </c:tx>
          <c:spPr>
            <a:solidFill>
              <a:srgbClr val="355C52"/>
            </a:solidFill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050" b="1" i="0" u="none" strike="noStrike" kern="1200" baseline="0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defRPr>
                    </a:pPr>
                    <a:r>
                      <a:rPr sz="1050" b="1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rPr>
                      <a:t>12/36</a:t>
                    </a:r>
                    <a:endParaRPr sz="1050" b="1">
                      <a:solidFill>
                        <a:srgbClr val="355C52"/>
                      </a:solidFill>
                      <a:latin typeface="MiSans" charset="-122"/>
                      <a:ea typeface="MiSans" charset="-122"/>
                      <a:cs typeface="MiSans" charset="-122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50" b="1" i="0" u="none" strike="noStrike" kern="1200" baseline="0">
                      <a:solidFill>
                        <a:srgbClr val="355C52"/>
                      </a:solidFill>
                      <a:latin typeface="MiSans" charset="-122"/>
                      <a:ea typeface="MiSans" charset="-122"/>
                      <a:cs typeface="MiSans" charset="-122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050" b="1" i="0" u="none" strike="noStrike" kern="1200" baseline="0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defRPr>
                    </a:pPr>
                    <a:r>
                      <a:rPr sz="1050" b="1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rPr>
                      <a:t>12/36</a:t>
                    </a:r>
                    <a:endParaRPr sz="1050" b="1">
                      <a:solidFill>
                        <a:srgbClr val="355C52"/>
                      </a:solidFill>
                      <a:latin typeface="MiSans" charset="-122"/>
                      <a:ea typeface="MiSans" charset="-122"/>
                      <a:cs typeface="MiSans" charset="-122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50" b="1" i="0" u="none" strike="noStrike" kern="1200" baseline="0">
                      <a:solidFill>
                        <a:srgbClr val="355C52"/>
                      </a:solidFill>
                      <a:latin typeface="MiSans" charset="-122"/>
                      <a:ea typeface="MiSans" charset="-122"/>
                      <a:cs typeface="MiSans" charset="-122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050" b="1" i="0" u="none" strike="noStrike" kern="1200" baseline="0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defRPr>
                    </a:pPr>
                    <a:r>
                      <a:rPr sz="1050" b="1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rPr>
                      <a:t>18/36</a:t>
                    </a:r>
                    <a:endParaRPr sz="1050" b="1">
                      <a:solidFill>
                        <a:srgbClr val="355C52"/>
                      </a:solidFill>
                      <a:latin typeface="MiSans" charset="-122"/>
                      <a:ea typeface="MiSans" charset="-122"/>
                      <a:cs typeface="MiSans" charset="-122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50" b="1" i="0" u="none" strike="noStrike" kern="1200" baseline="0">
                      <a:solidFill>
                        <a:srgbClr val="355C52"/>
                      </a:solidFill>
                      <a:latin typeface="MiSans" charset="-122"/>
                      <a:ea typeface="MiSans" charset="-122"/>
                      <a:cs typeface="MiSans" charset="-122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Data'!$C$2:$C$4</c:f>
              <c:strCache>
                <c:ptCount val="3"/>
                <c:pt idx="0">
                  <c:v>Talking with companions</c:v>
                </c:pt>
                <c:pt idx="1">
                  <c:v>Choosing destinations</c:v>
                </c:pt>
                <c:pt idx="2">
                  <c:v>Daily routes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0.333333333333333</c:v>
                </c:pt>
                <c:pt idx="1">
                  <c:v>0.333333333333333</c:v>
                </c:pt>
                <c:pt idx="2">
                  <c:v>0.5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w="9525">
              <a:solidFill>
                <a:srgbClr val="C8C0B3"/>
              </a:solidFill>
              <a:prstDash val="solid"/>
              <a:round/>
            </a:ln>
          </c:spPr>
        </c:majorGridlines>
        <c:numFmt formatCode="0%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</a:p>
        </c:txPr>
        <c:crossAx val="48650112"/>
        <c:crosses val="autoZero"/>
        <c:crossBetween val="between"/>
        <c:majorUnit val="0.5"/>
      </c:valAx>
      <c:spPr>
        <a:ln w="0">
          <a:noFill/>
        </a:ln>
      </c:spPr>
    </c:plotArea>
    <c:legend>
      <c:legendPos val="b"/>
      <c:layout>
        <c:manualLayout>
          <c:xMode val="edge"/>
          <c:yMode val="edge"/>
          <c:x val="0.332935323383085"/>
          <c:y val="0.864436183395291"/>
          <c:w val="0.345273631840796"/>
          <c:h val="0.105824039653036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975" b="0" i="0" u="none" strike="noStrike" kern="1200" baseline="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80e0816-24c4-420b-bd43-603e30ee5266}"/>
      </c:ext>
    </c:extLst>
  </c:chart>
  <c:spPr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Revised (n=18)</c:f>
              <c:strCache>
                <c:ptCount val="1"/>
                <c:pt idx="0">
                  <c:v>Revised (n=18)</c:v>
                </c:pt>
              </c:strCache>
            </c:strRef>
          </c:tx>
          <c:spPr>
            <a:solidFill>
              <a:srgbClr val="B96A4B"/>
            </a:solidFill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050" b="1" i="0" u="none" strike="noStrike" kern="1200" baseline="0">
                        <a:solidFill>
                          <a:srgbClr val="B96A4B"/>
                        </a:solidFill>
                        <a:latin typeface="MiSans" charset="-122"/>
                        <a:ea typeface="MiSans" charset="-122"/>
                        <a:cs typeface="MiSans" charset="-122"/>
                      </a:defRPr>
                    </a:pPr>
                    <a:r>
                      <a:rPr sz="1050" b="1">
                        <a:solidFill>
                          <a:srgbClr val="B96A4B"/>
                        </a:solidFill>
                        <a:latin typeface="MiSans" charset="-122"/>
                        <a:ea typeface="MiSans" charset="-122"/>
                        <a:cs typeface="MiSans" charset="-122"/>
                      </a:rPr>
                      <a:t>0/18</a:t>
                    </a:r>
                    <a:endParaRPr sz="1050" b="1">
                      <a:solidFill>
                        <a:srgbClr val="B96A4B"/>
                      </a:solidFill>
                      <a:latin typeface="MiSans" charset="-122"/>
                      <a:ea typeface="MiSans" charset="-122"/>
                      <a:cs typeface="MiSans" charset="-122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50" b="1" i="0" u="none" strike="noStrike" kern="1200" baseline="0">
                      <a:solidFill>
                        <a:srgbClr val="B96A4B"/>
                      </a:solidFill>
                      <a:latin typeface="MiSans" charset="-122"/>
                      <a:ea typeface="MiSans" charset="-122"/>
                      <a:cs typeface="MiSans" charset="-122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050" b="1" i="0" u="none" strike="noStrike" kern="1200" baseline="0">
                        <a:solidFill>
                          <a:srgbClr val="B96A4B"/>
                        </a:solidFill>
                        <a:latin typeface="MiSans" charset="-122"/>
                        <a:ea typeface="MiSans" charset="-122"/>
                        <a:cs typeface="MiSans" charset="-122"/>
                      </a:defRPr>
                    </a:pPr>
                    <a:r>
                      <a:rPr sz="1050" b="1">
                        <a:solidFill>
                          <a:srgbClr val="B96A4B"/>
                        </a:solidFill>
                        <a:latin typeface="MiSans" charset="-122"/>
                        <a:ea typeface="MiSans" charset="-122"/>
                        <a:cs typeface="MiSans" charset="-122"/>
                      </a:rPr>
                      <a:t>12/18</a:t>
                    </a:r>
                    <a:endParaRPr sz="1050" b="1">
                      <a:solidFill>
                        <a:srgbClr val="B96A4B"/>
                      </a:solidFill>
                      <a:latin typeface="MiSans" charset="-122"/>
                      <a:ea typeface="MiSans" charset="-122"/>
                      <a:cs typeface="MiSans" charset="-122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50" b="1" i="0" u="none" strike="noStrike" kern="1200" baseline="0">
                      <a:solidFill>
                        <a:srgbClr val="B96A4B"/>
                      </a:solidFill>
                      <a:latin typeface="MiSans" charset="-122"/>
                      <a:ea typeface="MiSans" charset="-122"/>
                      <a:cs typeface="MiSans" charset="-122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050" b="1" i="0" u="none" strike="noStrike" kern="1200" baseline="0">
                        <a:solidFill>
                          <a:srgbClr val="B96A4B"/>
                        </a:solidFill>
                        <a:latin typeface="MiSans" charset="-122"/>
                        <a:ea typeface="MiSans" charset="-122"/>
                        <a:cs typeface="MiSans" charset="-122"/>
                      </a:defRPr>
                    </a:pPr>
                    <a:r>
                      <a:rPr sz="1050" b="1">
                        <a:solidFill>
                          <a:srgbClr val="B96A4B"/>
                        </a:solidFill>
                        <a:latin typeface="MiSans" charset="-122"/>
                        <a:ea typeface="MiSans" charset="-122"/>
                        <a:cs typeface="MiSans" charset="-122"/>
                      </a:rPr>
                      <a:t>6/18</a:t>
                    </a:r>
                    <a:endParaRPr sz="1050" b="1">
                      <a:solidFill>
                        <a:srgbClr val="B96A4B"/>
                      </a:solidFill>
                      <a:latin typeface="MiSans" charset="-122"/>
                      <a:ea typeface="MiSans" charset="-122"/>
                      <a:cs typeface="MiSans" charset="-122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50" b="1" i="0" u="none" strike="noStrike" kern="1200" baseline="0">
                      <a:solidFill>
                        <a:srgbClr val="B96A4B"/>
                      </a:solidFill>
                      <a:latin typeface="MiSans" charset="-122"/>
                      <a:ea typeface="MiSans" charset="-122"/>
                      <a:cs typeface="MiSans" charset="-122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Data'!$A$2:$A$4</c:f>
              <c:strCache>
                <c:ptCount val="3"/>
                <c:pt idx="0">
                  <c:v>Decide on the spot</c:v>
                </c:pt>
                <c:pt idx="1">
                  <c:v>Shared responsibilities</c:v>
                </c:pt>
                <c:pt idx="2">
                  <c:v>One main planner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</c:v>
                </c:pt>
                <c:pt idx="1">
                  <c:v>0.666666666666667</c:v>
                </c:pt>
                <c:pt idx="2">
                  <c:v>0.333333333333333</c:v>
                </c:pt>
              </c:numCache>
            </c:numRef>
          </c:val>
        </c:ser>
        <c:ser>
          <c:idx val="1"/>
          <c:order val="1"/>
          <c:tx>
            <c:strRef>
              <c:f>Original (n=36)</c:f>
              <c:strCache>
                <c:ptCount val="1"/>
                <c:pt idx="0">
                  <c:v>Original (n=36)</c:v>
                </c:pt>
              </c:strCache>
            </c:strRef>
          </c:tx>
          <c:spPr>
            <a:solidFill>
              <a:srgbClr val="355C52"/>
            </a:solidFill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050" b="1" i="0" u="none" strike="noStrike" kern="1200" baseline="0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defRPr>
                    </a:pPr>
                    <a:r>
                      <a:rPr sz="1050" b="1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rPr>
                      <a:t>6/36</a:t>
                    </a:r>
                    <a:endParaRPr sz="1050" b="1">
                      <a:solidFill>
                        <a:srgbClr val="355C52"/>
                      </a:solidFill>
                      <a:latin typeface="MiSans" charset="-122"/>
                      <a:ea typeface="MiSans" charset="-122"/>
                      <a:cs typeface="MiSans" charset="-122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50" b="1" i="0" u="none" strike="noStrike" kern="1200" baseline="0">
                      <a:solidFill>
                        <a:srgbClr val="355C52"/>
                      </a:solidFill>
                      <a:latin typeface="MiSans" charset="-122"/>
                      <a:ea typeface="MiSans" charset="-122"/>
                      <a:cs typeface="MiSans" charset="-122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050" b="1" i="0" u="none" strike="noStrike" kern="1200" baseline="0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defRPr>
                    </a:pPr>
                    <a:r>
                      <a:rPr sz="1050" b="1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rPr>
                      <a:t>12/36</a:t>
                    </a:r>
                    <a:endParaRPr sz="1050" b="1">
                      <a:solidFill>
                        <a:srgbClr val="355C52"/>
                      </a:solidFill>
                      <a:latin typeface="MiSans" charset="-122"/>
                      <a:ea typeface="MiSans" charset="-122"/>
                      <a:cs typeface="MiSans" charset="-122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50" b="1" i="0" u="none" strike="noStrike" kern="1200" baseline="0">
                      <a:solidFill>
                        <a:srgbClr val="355C52"/>
                      </a:solidFill>
                      <a:latin typeface="MiSans" charset="-122"/>
                      <a:ea typeface="MiSans" charset="-122"/>
                      <a:cs typeface="MiSans" charset="-122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050" b="1" i="0" u="none" strike="noStrike" kern="1200" baseline="0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defRPr>
                    </a:pPr>
                    <a:r>
                      <a:rPr sz="1050" b="1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rPr>
                      <a:t>18/36</a:t>
                    </a:r>
                    <a:endParaRPr sz="1050" b="1">
                      <a:solidFill>
                        <a:srgbClr val="355C52"/>
                      </a:solidFill>
                      <a:latin typeface="MiSans" charset="-122"/>
                      <a:ea typeface="MiSans" charset="-122"/>
                      <a:cs typeface="MiSans" charset="-122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50" b="1" i="0" u="none" strike="noStrike" kern="1200" baseline="0">
                      <a:solidFill>
                        <a:srgbClr val="355C52"/>
                      </a:solidFill>
                      <a:latin typeface="MiSans" charset="-122"/>
                      <a:ea typeface="MiSans" charset="-122"/>
                      <a:cs typeface="MiSans" charset="-122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Data'!$C$2:$C$4</c:f>
              <c:strCache>
                <c:ptCount val="3"/>
                <c:pt idx="0">
                  <c:v>Decide on the spot</c:v>
                </c:pt>
                <c:pt idx="1">
                  <c:v>Shared responsibilities</c:v>
                </c:pt>
                <c:pt idx="2">
                  <c:v>One main planner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0.166666666666667</c:v>
                </c:pt>
                <c:pt idx="1">
                  <c:v>0.333333333333333</c:v>
                </c:pt>
                <c:pt idx="2">
                  <c:v>0.5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w="9525">
              <a:solidFill>
                <a:srgbClr val="C8C0B3"/>
              </a:solidFill>
              <a:prstDash val="solid"/>
              <a:round/>
            </a:ln>
          </c:spPr>
        </c:majorGridlines>
        <c:numFmt formatCode="0%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</a:p>
        </c:txPr>
        <c:crossAx val="48650112"/>
        <c:crosses val="autoZero"/>
        <c:crossBetween val="between"/>
        <c:majorUnit val="0.5"/>
      </c:valAx>
      <c:spPr>
        <a:ln w="0">
          <a:noFill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75" b="0" i="0" u="none" strike="noStrike" kern="1200" baseline="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1b214a6-fe15-4981-a97c-4a53e9b4b252}"/>
      </c:ext>
    </c:extLst>
  </c:chart>
  <c:spPr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only: original and revised questionnaire reports Q16 in 旅游调研.zip. Full option review confirms daily routes ranked highest in both versions. Selected counts: routes 3/6 and 3/3; destinations 2/6 and 1/3; companions 2/6 and 0/3. T01 files 944b6b2dd53737b3fc03e18159791e50.jpg and 36c4e900ffcfb6efc76d8af64267387e.jpg. T02 simple trip: 47dcb36ecdb5a783cb270a4078c22435.jpg. No continuous work-time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only: original and revised questionnaire reports Q16 in 旅游调研.zip. Full option review confirms daily routes ranked highest in both versions. Selected counts: routes 3/6 and 3/3; destinations 2/6 and 1/3; companions 2/6 and 0/3. T01 files 944b6b2dd53737b3fc03e18159791e50.jpg and 36c4e900ffcfb6efc76d8af64267387e.jpg. T02 simple trip: 47dcb36ecdb5a783cb270a4078c22435.jpg. No continuous work-time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only: Q19 original self 3, friend 0, shared 2, spontaneous 1 (n=6); revised self 0, friend 1, shared 2, spontaneous 0 (n=3). One main planner is self plus friend. Q21 WeChat/QQ 6/6 and 3/3. Q35 co-editing 0/6 and 2/3. T01 trust: 97f4731506c6e642a5780e51ebe10c80.jpg. T02 participation: 47dcb36ecdb5a783cb270a4078c22435.jpg and c8b247b773d8e03058ee38b4fcff7afd.jpg, overlapping content counted once. T03 advance consensus: 748624770044c691395e2c58a6151857.jpg. Group-chat use does not establish demand for a shared 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only: T03 memorial visit and quote: eb73c40851a630bacc6c84a5b402cec8.jpg, with prior preparation in 766cba605a891c6574de48e594b1fc4f.jpg. The 30-minute visit was shorter than expected, not longer. T02 internal transit: bb32cdf1dab72240ca6a982503643ead.jpg. T03 rural ride-hailing: 68d860889428b7c88d95a19a095d959f.jpg. Q29 price mismatch 4/6 and 1/3; booking mismatch 0/6 and 3/3, multiple choice. Sample overlap unknown. Not all survey mismatches stem from omissions.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interviews explain three difficulties. One traveler compared airports and flight times to settle the route. Another described uneven participation in group planning. A third checked opening hours and parking, yet missed visit length, heat and meals. Their question was: have I overlooked anything?</a:t>
            </a:r>
          </a:p>
          <a:p/>
          <a:p>
            <a:r>
              <a:t>Sources: supplied interview conversation groups T01 (Arxan), T02 (Jiangsu graduation trip), T03 (memorial visit). T03 quote appears in 766cba605a891c6574de48e594b1fc4f.jpg and eb73c40851a630bacc6c84a5b402cec8.jpg. Names and avatars omitted.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only: actual Melbourne behavior from eaa7861cbbf43387122280b13fc099e1.jpg (T01), not an app flow. Q32 phone search original 4/6 and revised 3/3. T02 easy re-search and welcome discoveries: 09004dfd4a328c2726c451b6c7e6243a.jpg. T02 polarized reviews: 7e4707a685eba9671bbf5bd77e3f560d.jpg. T03 form-like tools and memo phrase: 5a2433519ceb45dcdf9b8eb5c1f57f9a.jpg. Memo quotation translated; planning-tool complaint paraphrased. No claim of universal preference or product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-green-band"/>
          <p:cNvSpPr>
            <a:spLocks noGrp="1"/>
          </p:cNvSpPr>
          <p:nvPr/>
        </p:nvSpPr>
        <p:spPr>
          <a:xfrm>
            <a:off x="0" y="0"/>
            <a:ext cx="812800" cy="6858000"/>
          </a:xfrm>
          <a:prstGeom prst="rect">
            <a:avLst/>
          </a:prstGeom>
          <a:solidFill>
            <a:srgbClr val="355C5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cover-accent-band"/>
          <p:cNvSpPr>
            <a:spLocks noGrp="1"/>
          </p:cNvSpPr>
          <p:nvPr/>
        </p:nvSpPr>
        <p:spPr>
          <a:xfrm>
            <a:off x="812800" y="0"/>
            <a:ext cx="127000" cy="6858000"/>
          </a:xfrm>
          <a:prstGeom prst="rect">
            <a:avLst/>
          </a:prstGeom>
          <a:solidFill>
            <a:srgbClr val="B96A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over-top-rule"/>
          <p:cNvSpPr>
            <a:spLocks noGrp="1"/>
          </p:cNvSpPr>
          <p:nvPr/>
        </p:nvSpPr>
        <p:spPr>
          <a:xfrm>
            <a:off x="1320800" y="881380"/>
            <a:ext cx="6413500" cy="25400"/>
          </a:xfrm>
          <a:prstGeom prst="rect">
            <a:avLst/>
          </a:prstGeom>
          <a:solidFill>
            <a:srgbClr val="355C5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cover-kicker"/>
          <p:cNvSpPr>
            <a:spLocks noGrp="1"/>
          </p:cNvSpPr>
          <p:nvPr/>
        </p:nvSpPr>
        <p:spPr>
          <a:xfrm>
            <a:off x="1320800" y="107188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PROJECT PROPOSAL · 2026</a:t>
            </a:r>
            <a:endParaRPr sz="1100"/>
          </a:p>
        </p:txBody>
      </p:sp>
      <p:sp>
        <p:nvSpPr>
          <p:cNvPr id="6" name="cover-title"/>
          <p:cNvSpPr>
            <a:spLocks noGrp="1"/>
          </p:cNvSpPr>
          <p:nvPr/>
        </p:nvSpPr>
        <p:spPr>
          <a:xfrm>
            <a:off x="1295400" y="1757680"/>
            <a:ext cx="943737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08000"/>
              </a:lnSpc>
              <a:buClrTx/>
              <a:buSzTx/>
              <a:buFontTx/>
              <a:buNone/>
            </a:pPr>
            <a:r>
              <a:rPr sz="4800" b="1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AI Collaborative Travel Assistant</a:t>
            </a:r>
            <a:endParaRPr sz="4800" b="1">
              <a:solidFill>
                <a:srgbClr val="263238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7" name="cover-subtitle"/>
          <p:cNvSpPr>
            <a:spLocks noGrp="1"/>
          </p:cNvSpPr>
          <p:nvPr/>
        </p:nvSpPr>
        <p:spPr>
          <a:xfrm>
            <a:off x="1320800" y="2837180"/>
            <a:ext cx="7112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30000"/>
              </a:lnSpc>
              <a:buNone/>
            </a:pPr>
            <a:r>
              <a:rPr sz="2400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An Agent system for verifiable, editable, and executable trip planning</a:t>
            </a:r>
            <a:endParaRPr sz="2400"/>
          </a:p>
        </p:txBody>
      </p:sp>
      <p:sp>
        <p:nvSpPr>
          <p:cNvPr id="8" name="cover-meta-line"/>
          <p:cNvSpPr>
            <a:spLocks noGrp="1"/>
          </p:cNvSpPr>
          <p:nvPr/>
        </p:nvSpPr>
        <p:spPr>
          <a:xfrm>
            <a:off x="1320800" y="4081780"/>
            <a:ext cx="6604000" cy="127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cover-meta"/>
          <p:cNvSpPr>
            <a:spLocks noGrp="1"/>
          </p:cNvSpPr>
          <p:nvPr/>
        </p:nvSpPr>
        <p:spPr>
          <a:xfrm>
            <a:off x="1320800" y="4373880"/>
            <a:ext cx="5969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55000"/>
              </a:lnSpc>
              <a:buClrTx/>
              <a:buSzTx/>
              <a:buFontTx/>
              <a:buNone/>
            </a:pPr>
            <a:r>
              <a:rPr sz="15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Team members：</a:t>
            </a:r>
            <a:endParaRPr sz="15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lnSpc>
                <a:spcPct val="155000"/>
              </a:lnSpc>
              <a:buClrTx/>
              <a:buSzTx/>
              <a:buFontTx/>
              <a:buNone/>
            </a:pPr>
            <a:r>
              <a:rPr sz="15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未来技术学院</a:t>
            </a:r>
            <a:r>
              <a:rPr sz="15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：</a:t>
            </a:r>
            <a:r>
              <a:rPr sz="15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胡潇涵</a:t>
            </a:r>
            <a:r>
              <a:rPr sz="15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  </a:t>
            </a:r>
            <a:r>
              <a:rPr sz="15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梁悦文</a:t>
            </a:r>
            <a:r>
              <a:rPr sz="15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  </a:t>
            </a:r>
            <a:r>
              <a:rPr sz="15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庞</a:t>
            </a:r>
            <a:r>
              <a:rPr sz="15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林涛</a:t>
            </a:r>
            <a:endParaRPr sz="15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lnSpc>
                <a:spcPct val="155000"/>
              </a:lnSpc>
              <a:buClrTx/>
              <a:buSzTx/>
              <a:buFontTx/>
              <a:buNone/>
            </a:pPr>
            <a:r>
              <a:rPr sz="15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设计学院</a:t>
            </a:r>
            <a:r>
              <a:rPr sz="15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：</a:t>
            </a:r>
            <a:r>
              <a:rPr sz="15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陈建宏</a:t>
            </a:r>
            <a:r>
              <a:rPr sz="15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  </a:t>
            </a:r>
            <a:r>
              <a:rPr sz="15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种家骏</a:t>
            </a:r>
            <a:r>
              <a:rPr sz="15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  </a:t>
            </a:r>
            <a:r>
              <a:rPr sz="15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钟桂</a:t>
            </a:r>
            <a:r>
              <a:rPr sz="15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华</a:t>
            </a:r>
            <a:endParaRPr sz="15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Daily routes were the most effortful task"/>
          <p:cNvSpPr>
            <a:spLocks noGrp="1"/>
          </p:cNvSpPr>
          <p:nvPr/>
        </p:nvSpPr>
        <p:spPr>
          <a:xfrm>
            <a:off x="711232" y="790575"/>
            <a:ext cx="10769632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>
                <a:solidFill>
                  <a:srgbClr val="263238"/>
                </a:solidFill>
                <a:latin typeface="思源宋体"/>
                <a:ea typeface="思源宋体"/>
                <a:cs typeface="思源宋体"/>
              </a:defRPr>
            </a:pPr>
            <a:r>
              <a:rPr sz="4000" b="1" i="0" u="none" cap="none" spc="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Contents</a:t>
            </a:r>
            <a:endParaRPr sz="4000" b="1" i="0" u="none" kern="1200" cap="none" spc="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996315" y="1823085"/>
            <a:ext cx="10484485" cy="43446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01   User Research      </a:t>
            </a:r>
            <a:r>
              <a:rPr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From questionnaires and interviews</a:t>
            </a:r>
            <a:endParaRPr sz="2800"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/>
              <a:t>02   </a:t>
            </a:r>
            <a:r>
              <a:rPr sz="2800"/>
              <a:t>Problem               </a:t>
            </a:r>
            <a:r>
              <a:rPr sz="180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Background, target users, and user needs</a:t>
            </a:r>
            <a:endParaRPr sz="200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03   </a:t>
            </a:r>
            <a:r>
              <a:rPr sz="2800"/>
              <a:t>Related work      </a:t>
            </a:r>
            <a:r>
              <a:rPr sz="1200"/>
              <a:t> </a:t>
            </a:r>
            <a:r>
              <a:rPr sz="2800"/>
              <a:t> </a:t>
            </a:r>
            <a:r>
              <a:rPr sz="180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Existing approaches and the gap our project addresses</a:t>
            </a:r>
            <a:endParaRPr sz="280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04   </a:t>
            </a:r>
            <a:r>
              <a:rPr sz="2800"/>
              <a:t>Core scope        </a:t>
            </a:r>
            <a:r>
              <a:rPr sz="1400"/>
              <a:t>  </a:t>
            </a:r>
            <a:r>
              <a:rPr sz="2800"/>
              <a:t> </a:t>
            </a:r>
            <a:r>
              <a:rPr sz="180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3 user stories and one complete main workflow</a:t>
            </a:r>
            <a:endParaRPr sz="200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/>
              <a:t>05   </a:t>
            </a:r>
            <a:r>
              <a:rPr sz="2800"/>
              <a:t>Technology        </a:t>
            </a:r>
            <a:r>
              <a:rPr sz="1400"/>
              <a:t> </a:t>
            </a:r>
            <a:r>
              <a:rPr sz="2800"/>
              <a:t> </a:t>
            </a:r>
            <a:r>
              <a:rPr sz="180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Technology stack, data sources, and the role of AI</a:t>
            </a:r>
            <a:endParaRPr sz="200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/>
              <a:t>06   </a:t>
            </a:r>
            <a:r>
              <a:rPr sz="2800"/>
              <a:t>Risks and tests   </a:t>
            </a:r>
            <a:r>
              <a:rPr sz="1200"/>
              <a:t> </a:t>
            </a:r>
            <a:r>
              <a:rPr sz="2800"/>
              <a:t> </a:t>
            </a:r>
            <a:r>
              <a:rPr sz="180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Main risks, mitigation, and planned verification</a:t>
            </a:r>
            <a:endParaRPr sz="200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/>
              <a:t>07   </a:t>
            </a:r>
            <a:r>
              <a:rPr sz="2800"/>
              <a:t>Team plan         </a:t>
            </a:r>
            <a:r>
              <a:rPr sz="1200"/>
              <a:t> </a:t>
            </a:r>
            <a:r>
              <a:rPr sz="2800"/>
              <a:t>  </a:t>
            </a:r>
            <a:r>
              <a:rPr sz="180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Member roles and the plan of work</a:t>
            </a:r>
            <a:endParaRPr sz="200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USER RESEARCH · ROUTE PLANNING"/>
          <p:cNvSpPr>
            <a:spLocks noGrp="1"/>
          </p:cNvSpPr>
          <p:nvPr/>
        </p:nvSpPr>
        <p:spPr>
          <a:xfrm>
            <a:off x="711232" y="2476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00" b="1" i="0" u="none" cap="none" spc="12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01 </a:t>
            </a:r>
            <a:r>
              <a:rPr sz="1200" b="1" i="0" u="none" cap="none" spc="12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USER RESEARCH · ROUTE PLANNING</a:t>
            </a:r>
            <a:endParaRPr sz="1200" b="1" i="0" u="none" kern="1200" cap="none" spc="12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" name="R1"/>
          <p:cNvSpPr>
            <a:spLocks noGrp="1"/>
          </p:cNvSpPr>
          <p:nvPr/>
        </p:nvSpPr>
        <p:spPr>
          <a:xfrm>
            <a:off x="11049000" y="247650"/>
            <a:ext cx="431483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5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0</a:t>
            </a:r>
            <a:r>
              <a:rPr lang="en-US" sz="105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1</a:t>
            </a:r>
            <a:endParaRPr lang="en-US" sz="105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11232" y="482632"/>
            <a:ext cx="10769632" cy="0"/>
          </a:xfrm>
          <a:prstGeom prst="line">
            <a:avLst/>
          </a:prstGeom>
          <a:noFill/>
          <a:ln w="9525">
            <a:solidFill>
              <a:srgbClr val="C8C0B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" name="Daily routes were the most effortful task"/>
          <p:cNvSpPr>
            <a:spLocks noGrp="1"/>
          </p:cNvSpPr>
          <p:nvPr/>
        </p:nvSpPr>
        <p:spPr>
          <a:xfrm>
            <a:off x="711232" y="790575"/>
            <a:ext cx="10769632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>
                <a:solidFill>
                  <a:srgbClr val="263238"/>
                </a:solidFill>
                <a:latin typeface="思源宋体"/>
                <a:ea typeface="思源宋体"/>
                <a:cs typeface="思源宋体"/>
              </a:defRPr>
            </a:pPr>
            <a:r>
              <a:rPr sz="3000" b="1" i="0" u="none" cap="none" spc="0">
                <a:ln>
                  <a:noFill/>
                </a:ln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Daily routes were selected most often</a:t>
            </a:r>
            <a:endParaRPr sz="3000" b="1" i="0" u="none" kern="1200" cap="none" spc="0" baseline="0">
              <a:ln>
                <a:noFill/>
              </a:ln>
              <a:solidFill>
                <a:srgbClr val="263238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5" name="Selected planning tasks (Q16, multiple choice)"/>
          <p:cNvSpPr>
            <a:spLocks noGrp="1"/>
          </p:cNvSpPr>
          <p:nvPr/>
        </p:nvSpPr>
        <p:spPr>
          <a:xfrm>
            <a:off x="711232" y="1609725"/>
            <a:ext cx="6381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Selected planning tasks (Q16, multiple choice)</a:t>
            </a:r>
            <a:endParaRPr sz="1650" b="1" i="0" u="none" kern="1200" cap="none" spc="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7" name="Route arrangement ranked highest in both version"/>
          <p:cNvSpPr>
            <a:spLocks noGrp="1"/>
          </p:cNvSpPr>
          <p:nvPr/>
        </p:nvSpPr>
        <p:spPr>
          <a:xfrm>
            <a:off x="711232" y="4867275"/>
            <a:ext cx="6400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Route arrangement ranked highest in both versions.</a:t>
            </a:r>
            <a:endParaRPr sz="135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7458075" y="1581150"/>
            <a:ext cx="0" cy="3657600"/>
          </a:xfrm>
          <a:prstGeom prst="line">
            <a:avLst/>
          </a:prstGeom>
          <a:noFill/>
          <a:ln w="9525">
            <a:solidFill>
              <a:srgbClr val="C8C0B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9" name="Arxan trip: choosing where to land"/>
          <p:cNvSpPr>
            <a:spLocks noGrp="1"/>
          </p:cNvSpPr>
          <p:nvPr/>
        </p:nvSpPr>
        <p:spPr>
          <a:xfrm>
            <a:off x="7800975" y="1609725"/>
            <a:ext cx="36766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Arxan trip: choosing where to land</a:t>
            </a:r>
            <a:endParaRPr sz="1650" b="1" i="0" u="none" kern="1200" cap="none" spc="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0" name="Arxan airport"/>
          <p:cNvSpPr>
            <a:spLocks noGrp="1"/>
          </p:cNvSpPr>
          <p:nvPr/>
        </p:nvSpPr>
        <p:spPr>
          <a:xfrm>
            <a:off x="7800975" y="2381250"/>
            <a:ext cx="3676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75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75" b="1" i="0" u="none" cap="none" spc="0">
                <a:ln>
                  <a:noFill/>
                </a:ln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Arxan airport</a:t>
            </a:r>
            <a:endParaRPr sz="1575" b="1" i="0" u="none" kern="1200" cap="none" spc="0" baseline="0">
              <a:ln>
                <a:noFill/>
              </a:ln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1" name="No suitable flight the night before.&#10;Next-day ar"/>
          <p:cNvSpPr>
            <a:spLocks noGrp="1"/>
          </p:cNvSpPr>
          <p:nvPr/>
        </p:nvSpPr>
        <p:spPr>
          <a:xfrm>
            <a:off x="7800975" y="2743200"/>
            <a:ext cx="36766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No suitable flight the night before.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Next-day arrival would cost sightseeing time.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7800975" y="3524250"/>
            <a:ext cx="3676650" cy="0"/>
          </a:xfrm>
          <a:prstGeom prst="line">
            <a:avLst/>
          </a:prstGeom>
          <a:noFill/>
          <a:ln w="9525">
            <a:solidFill>
              <a:srgbClr val="C8C0B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3" name="Chosen: Hailar arrival"/>
          <p:cNvSpPr>
            <a:spLocks noGrp="1"/>
          </p:cNvSpPr>
          <p:nvPr/>
        </p:nvSpPr>
        <p:spPr>
          <a:xfrm>
            <a:off x="7800975" y="3705225"/>
            <a:ext cx="36766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75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75" b="1" i="0" u="none" cap="none" spc="0">
                <a:ln>
                  <a:noFill/>
                </a:ln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Chosen: Hailar arrival</a:t>
            </a:r>
            <a:endParaRPr sz="1575" b="1" i="0" u="none" kern="1200" cap="none" spc="0" baseline="0">
              <a:ln>
                <a:noFill/>
              </a:ln>
              <a:solidFill>
                <a:srgbClr val="B96A4B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4" name="The road to Arxan added grassland&#10;and forest sce"/>
          <p:cNvSpPr>
            <a:spLocks noGrp="1"/>
          </p:cNvSpPr>
          <p:nvPr/>
        </p:nvSpPr>
        <p:spPr>
          <a:xfrm>
            <a:off x="7800975" y="4086225"/>
            <a:ext cx="36766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The road to Arxan added grassland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and forest scenery while fitting the trip.</a:t>
            </a:r>
            <a:endParaRPr sz="1390" b="0" i="0" u="none" cap="none" spc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lang="en-US" altLang="zh-CN" sz="1390" b="0" i="0" u="none" kern="1200" cap="none" spc="0" baseline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The selected daily routes are of great importance in this case.</a:t>
            </a:r>
            <a:endParaRPr lang="en-US" altLang="zh-CN"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711232" y="5448300"/>
            <a:ext cx="10769632" cy="0"/>
          </a:xfrm>
          <a:prstGeom prst="line">
            <a:avLst/>
          </a:prstGeom>
          <a:noFill/>
          <a:ln w="9525">
            <a:solidFill>
              <a:srgbClr val="C8C0B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6" name="A simpler trip felt different"/>
          <p:cNvSpPr>
            <a:spLocks noGrp="1"/>
          </p:cNvSpPr>
          <p:nvPr/>
        </p:nvSpPr>
        <p:spPr>
          <a:xfrm>
            <a:off x="711232" y="5705475"/>
            <a:ext cx="2952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00" b="1" i="0" u="none" cap="none" spc="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A simpler trip felt different</a:t>
            </a:r>
            <a:endParaRPr sz="1500" b="1" i="0" u="none" kern="1200" cap="none" spc="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7" name="Guishan Island: the route was decided after arri"/>
          <p:cNvSpPr>
            <a:spLocks noGrp="1"/>
          </p:cNvSpPr>
          <p:nvPr/>
        </p:nvSpPr>
        <p:spPr>
          <a:xfrm>
            <a:off x="3895725" y="5667375"/>
            <a:ext cx="7581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00" b="0" i="0" u="none" cap="none" spc="0">
                <a:ln>
                  <a:noFill/>
                </a:ln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Guishan Island: the route was decided after arrival.</a:t>
            </a:r>
            <a:endParaRPr sz="1500" b="0" i="0" u="none" kern="1200" cap="none" spc="0" baseline="0">
              <a:ln>
                <a:noFill/>
              </a:ln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00" b="0" i="0" u="none" cap="none" spc="0">
                <a:ln>
                  <a:noFill/>
                </a:ln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The traveler recalled no especially difficult planning step.</a:t>
            </a:r>
            <a:endParaRPr sz="1500" b="0" i="0" u="none" kern="1200" cap="none" spc="0" baseline="0">
              <a:ln>
                <a:noFill/>
              </a:ln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8" name="Q16; interviews T01/T02. Surveys: n=6 and n=3, o"/>
          <p:cNvSpPr>
            <a:spLocks noGrp="1"/>
          </p:cNvSpPr>
          <p:nvPr/>
        </p:nvSpPr>
        <p:spPr>
          <a:xfrm>
            <a:off x="711232" y="6467475"/>
            <a:ext cx="10769632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65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Q16; interviews T01/T02. </a:t>
            </a:r>
            <a:r>
              <a:rPr noProof="0">
                <a:ln>
                  <a:noFill/>
                </a:ln>
                <a:effectLst/>
                <a:uLnTx/>
                <a:uFillTx/>
                <a:sym typeface="+mn-ea"/>
              </a:rPr>
              <a:t>Surveys: n=</a:t>
            </a:r>
            <a:r>
              <a:rPr lang="en-US" noProof="0">
                <a:ln>
                  <a:noFill/>
                </a:ln>
                <a:effectLst/>
                <a:uLnTx/>
                <a:uFillTx/>
                <a:sym typeface="+mn-ea"/>
              </a:rPr>
              <a:t>3</a:t>
            </a:r>
            <a:r>
              <a:rPr noProof="0">
                <a:ln>
                  <a:noFill/>
                </a:ln>
                <a:effectLst/>
                <a:uLnTx/>
                <a:uFillTx/>
                <a:sym typeface="+mn-ea"/>
              </a:rPr>
              <a:t>6 and n=</a:t>
            </a:r>
            <a:r>
              <a:rPr lang="en-US" noProof="0">
                <a:ln>
                  <a:noFill/>
                </a:ln>
                <a:effectLst/>
                <a:uLnTx/>
                <a:uFillTx/>
                <a:sym typeface="+mn-ea"/>
              </a:rPr>
              <a:t>18</a:t>
            </a:r>
            <a:r>
              <a:rPr noProof="0">
                <a:ln>
                  <a:noFill/>
                </a:ln>
                <a:effectLst/>
                <a:uLnTx/>
                <a:uFillTx/>
                <a:sym typeface="+mn-ea"/>
              </a:rPr>
              <a:t>, </a:t>
            </a:r>
            <a:r>
              <a:rPr sz="86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overlap unknown, not pooled. </a:t>
            </a:r>
            <a:endParaRPr sz="865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graphicFrame>
        <p:nvGraphicFramePr>
          <p:cNvPr id="38" name="Chart"/>
          <p:cNvGraphicFramePr/>
          <p:nvPr/>
        </p:nvGraphicFramePr>
        <p:xfrm>
          <a:off x="685800" y="2133600"/>
          <a:ext cx="6381750" cy="2562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USER RESEARCH · TRAVEL COMPANIONS"/>
          <p:cNvSpPr>
            <a:spLocks noGrp="1"/>
          </p:cNvSpPr>
          <p:nvPr/>
        </p:nvSpPr>
        <p:spPr>
          <a:xfrm>
            <a:off x="711232" y="2476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00" b="1" i="0" u="none" cap="none" spc="12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0</a:t>
            </a:r>
            <a:r>
              <a:rPr lang="en-US" sz="1200" b="1" i="0" u="none" cap="none" spc="12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1</a:t>
            </a:r>
            <a:r>
              <a:rPr sz="1200" b="1" i="0" u="none" cap="none" spc="12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 </a:t>
            </a:r>
            <a:r>
              <a:rPr sz="1200" b="1" i="0" u="none" cap="none" spc="12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USER RESEARCH · TRAVEL COMPANIONS</a:t>
            </a:r>
            <a:endParaRPr sz="1200" b="1" i="0" u="none" kern="1200" cap="none" spc="12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" name="R3"/>
          <p:cNvSpPr>
            <a:spLocks noGrp="1"/>
          </p:cNvSpPr>
          <p:nvPr/>
        </p:nvSpPr>
        <p:spPr>
          <a:xfrm>
            <a:off x="11049000" y="247650"/>
            <a:ext cx="431483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5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0</a:t>
            </a:r>
            <a:r>
              <a:rPr lang="en-US" sz="105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2</a:t>
            </a:r>
            <a:endParaRPr lang="en-US" sz="105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11232" y="482632"/>
            <a:ext cx="10769632" cy="0"/>
          </a:xfrm>
          <a:prstGeom prst="line">
            <a:avLst/>
          </a:prstGeom>
          <a:noFill/>
          <a:ln w="9525">
            <a:solidFill>
              <a:srgbClr val="C8C0B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" name="Group planning involves different roles"/>
          <p:cNvSpPr>
            <a:spLocks noGrp="1"/>
          </p:cNvSpPr>
          <p:nvPr/>
        </p:nvSpPr>
        <p:spPr>
          <a:xfrm>
            <a:off x="711232" y="790575"/>
            <a:ext cx="10769632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>
                <a:solidFill>
                  <a:srgbClr val="263238"/>
                </a:solidFill>
                <a:latin typeface="思源宋体"/>
                <a:ea typeface="思源宋体"/>
                <a:cs typeface="思源宋体"/>
              </a:defRPr>
            </a:pPr>
            <a:r>
              <a:rPr sz="3000" b="1" i="0" u="none" cap="none" spc="0">
                <a:ln>
                  <a:noFill/>
                </a:ln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Group planning involves different roles</a:t>
            </a:r>
            <a:endParaRPr sz="3000" b="1" i="0" u="none" kern="1200" cap="none" spc="0" baseline="0">
              <a:ln>
                <a:noFill/>
              </a:ln>
              <a:solidFill>
                <a:srgbClr val="263238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5" name="Who handles the planning? (Q19)"/>
          <p:cNvSpPr>
            <a:spLocks noGrp="1"/>
          </p:cNvSpPr>
          <p:nvPr/>
        </p:nvSpPr>
        <p:spPr>
          <a:xfrm>
            <a:off x="711232" y="1600200"/>
            <a:ext cx="647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725" b="1" i="0" u="none" cap="none" spc="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Who handles the planning? (Q19)</a:t>
            </a:r>
            <a:endParaRPr sz="1725" b="1" i="0" u="none" kern="1200" cap="none" spc="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7" name="Shared in WeChat / QQ groups (Q21)"/>
          <p:cNvSpPr>
            <a:spLocks noGrp="1"/>
          </p:cNvSpPr>
          <p:nvPr/>
        </p:nvSpPr>
        <p:spPr>
          <a:xfrm>
            <a:off x="812165" y="5346700"/>
            <a:ext cx="5786120" cy="2660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Shared in WeChat / QQ groups (Q21)</a:t>
            </a:r>
            <a:endParaRPr sz="160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8" name="6/6 original     3/3 revised"/>
          <p:cNvSpPr>
            <a:spLocks noGrp="1"/>
          </p:cNvSpPr>
          <p:nvPr/>
        </p:nvSpPr>
        <p:spPr>
          <a:xfrm>
            <a:off x="6915150" y="5315585"/>
            <a:ext cx="4653280" cy="3422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25" b="1">
                <a:solidFill>
                  <a:srgbClr val="355C52"/>
                </a:solidFill>
                <a:latin typeface="思源宋体"/>
                <a:ea typeface="思源宋体"/>
                <a:cs typeface="思源宋体"/>
              </a:defRPr>
            </a:pPr>
            <a:r>
              <a:rPr sz="2000" b="1" i="0" u="none" cap="none" spc="0">
                <a:ln>
                  <a:noFill/>
                </a:ln>
                <a:solidFill>
                  <a:srgbClr val="355C52"/>
                </a:solidFill>
                <a:latin typeface="思源宋体"/>
                <a:ea typeface="思源宋体"/>
                <a:cs typeface="思源宋体"/>
              </a:rPr>
              <a:t>36/</a:t>
            </a:r>
            <a:r>
              <a:rPr lang="en-US" sz="1400" b="1" i="0" u="none" cap="none" spc="0">
                <a:ln>
                  <a:noFill/>
                </a:ln>
                <a:solidFill>
                  <a:srgbClr val="355C52"/>
                </a:solidFill>
                <a:latin typeface="思源宋体"/>
                <a:ea typeface="思源宋体"/>
                <a:cs typeface="思源宋体"/>
              </a:rPr>
              <a:t> </a:t>
            </a:r>
            <a:r>
              <a:rPr sz="2000" b="1" i="0" u="none" cap="none" spc="0">
                <a:ln>
                  <a:noFill/>
                </a:ln>
                <a:solidFill>
                  <a:srgbClr val="355C52"/>
                </a:solidFill>
                <a:latin typeface="思源宋体"/>
                <a:ea typeface="思源宋体"/>
                <a:cs typeface="思源宋体"/>
              </a:rPr>
              <a:t>36 original     18/</a:t>
            </a:r>
            <a:r>
              <a:rPr lang="en-US" sz="1400" b="1" i="0" u="none" cap="none" spc="0">
                <a:ln>
                  <a:noFill/>
                </a:ln>
                <a:solidFill>
                  <a:srgbClr val="355C52"/>
                </a:solidFill>
                <a:latin typeface="思源宋体"/>
                <a:ea typeface="思源宋体"/>
                <a:cs typeface="思源宋体"/>
              </a:rPr>
              <a:t> </a:t>
            </a:r>
            <a:r>
              <a:rPr sz="2000" b="1" i="0" u="none" cap="none" spc="0">
                <a:ln>
                  <a:noFill/>
                </a:ln>
                <a:solidFill>
                  <a:srgbClr val="355C52"/>
                </a:solidFill>
                <a:latin typeface="思源宋体"/>
                <a:ea typeface="思源宋体"/>
                <a:cs typeface="思源宋体"/>
              </a:rPr>
              <a:t>18 revised</a:t>
            </a:r>
            <a:endParaRPr sz="2000" b="1" i="0" u="none" kern="1200" cap="none" spc="0" baseline="0">
              <a:ln>
                <a:noFill/>
              </a:ln>
              <a:solidFill>
                <a:srgbClr val="355C52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371715" y="1571625"/>
            <a:ext cx="1270" cy="3223895"/>
          </a:xfrm>
          <a:prstGeom prst="line">
            <a:avLst/>
          </a:prstGeom>
          <a:noFill/>
          <a:ln w="9525">
            <a:solidFill>
              <a:srgbClr val="C8C0B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0" name="Uneven participation, then discussion"/>
          <p:cNvSpPr>
            <a:spLocks noGrp="1"/>
          </p:cNvSpPr>
          <p:nvPr/>
        </p:nvSpPr>
        <p:spPr>
          <a:xfrm>
            <a:off x="7715250" y="1863090"/>
            <a:ext cx="37623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Uneven participation, then discussion</a:t>
            </a:r>
            <a:endParaRPr sz="1650" b="1" i="0" u="none" kern="1200" cap="none" spc="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1" name="Jiangsu graduation trip: some stayed silent.&#10;A d"/>
          <p:cNvSpPr>
            <a:spLocks noGrp="1"/>
          </p:cNvSpPr>
          <p:nvPr/>
        </p:nvSpPr>
        <p:spPr>
          <a:xfrm>
            <a:off x="7715250" y="2367915"/>
            <a:ext cx="3762375" cy="6184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Jiangsu graduation trip: some stayed silent.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A direct conversation brought them in.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7715250" y="3390900"/>
            <a:ext cx="3762375" cy="0"/>
          </a:xfrm>
          <a:prstGeom prst="line">
            <a:avLst/>
          </a:prstGeom>
          <a:noFill/>
          <a:ln w="9525">
            <a:solidFill>
              <a:srgbClr val="C8C0B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3" name="Coordination also worked well"/>
          <p:cNvSpPr>
            <a:spLocks noGrp="1"/>
          </p:cNvSpPr>
          <p:nvPr/>
        </p:nvSpPr>
        <p:spPr>
          <a:xfrm>
            <a:off x="7715250" y="3581400"/>
            <a:ext cx="37623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Coordination also worked well</a:t>
            </a:r>
            <a:endParaRPr sz="1650" b="1" i="0" u="none" kern="1200" cap="none" spc="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4" name="Familiar friends divided work by trust (T01).&#10;An"/>
          <p:cNvSpPr>
            <a:spLocks noGrp="1"/>
          </p:cNvSpPr>
          <p:nvPr/>
        </p:nvSpPr>
        <p:spPr>
          <a:xfrm>
            <a:off x="7715250" y="4057650"/>
            <a:ext cx="3762375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Familiar friends divided work by trust (T01).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An organizer announced options and waited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for agreement before acting (T03).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711232" y="5086985"/>
            <a:ext cx="10769632" cy="0"/>
          </a:xfrm>
          <a:prstGeom prst="line">
            <a:avLst/>
          </a:prstGeom>
          <a:noFill/>
          <a:ln w="9525">
            <a:solidFill>
              <a:srgbClr val="C8C0B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6" name="Interest in co-editing differed (Q35)"/>
          <p:cNvSpPr>
            <a:spLocks noGrp="1"/>
          </p:cNvSpPr>
          <p:nvPr/>
        </p:nvSpPr>
        <p:spPr>
          <a:xfrm>
            <a:off x="812165" y="5866130"/>
            <a:ext cx="6038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600" i="0" u="none" cap="none" spc="0">
                <a:ln>
                  <a:noFill/>
                </a:ln>
                <a:latin typeface="MiSans" charset="-122"/>
                <a:ea typeface="MiSans" charset="-122"/>
                <a:cs typeface="MiSans" charset="-122"/>
              </a:rPr>
              <a:t>Interest in co-editing differed (Q35)</a:t>
            </a:r>
            <a:endParaRPr sz="1600" i="0" u="none" kern="1200" cap="none" spc="0" baseline="0">
              <a:ln>
                <a:noFill/>
              </a:ln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7" name="0/6 original     2/3 revised"/>
          <p:cNvSpPr>
            <a:spLocks noGrp="1"/>
          </p:cNvSpPr>
          <p:nvPr/>
        </p:nvSpPr>
        <p:spPr>
          <a:xfrm>
            <a:off x="6915150" y="5818505"/>
            <a:ext cx="44100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25" b="1">
                <a:solidFill>
                  <a:srgbClr val="355C52"/>
                </a:solidFill>
                <a:latin typeface="思源宋体"/>
                <a:ea typeface="思源宋体"/>
                <a:cs typeface="思源宋体"/>
              </a:defRPr>
            </a:pPr>
            <a:r>
              <a:rPr lang="en-US" sz="2000" b="1" i="0" u="none" cap="none" spc="0">
                <a:ln>
                  <a:noFill/>
                </a:ln>
                <a:latin typeface="思源宋体"/>
                <a:ea typeface="思源宋体"/>
                <a:cs typeface="思源宋体"/>
              </a:rPr>
              <a:t>22</a:t>
            </a:r>
            <a:r>
              <a:rPr sz="2000" b="1" i="0" u="none" cap="none" spc="0">
                <a:ln>
                  <a:noFill/>
                </a:ln>
                <a:latin typeface="思源宋体"/>
                <a:ea typeface="思源宋体"/>
                <a:cs typeface="思源宋体"/>
              </a:rPr>
              <a:t>/</a:t>
            </a:r>
            <a:r>
              <a:rPr lang="en-US" sz="1400" b="1" i="0" u="none" cap="none" spc="0">
                <a:ln>
                  <a:noFill/>
                </a:ln>
                <a:latin typeface="思源宋体"/>
                <a:ea typeface="思源宋体"/>
                <a:cs typeface="思源宋体"/>
              </a:rPr>
              <a:t> </a:t>
            </a:r>
            <a:r>
              <a:rPr sz="2000" b="1" i="0" u="none" cap="none" spc="0">
                <a:ln>
                  <a:noFill/>
                </a:ln>
                <a:latin typeface="思源宋体"/>
                <a:ea typeface="思源宋体"/>
                <a:cs typeface="思源宋体"/>
              </a:rPr>
              <a:t>36 original     12/</a:t>
            </a:r>
            <a:r>
              <a:rPr lang="en-US" sz="1400" b="1" i="0" u="none" cap="none" spc="0">
                <a:ln>
                  <a:noFill/>
                </a:ln>
                <a:latin typeface="思源宋体"/>
                <a:ea typeface="思源宋体"/>
                <a:cs typeface="思源宋体"/>
              </a:rPr>
              <a:t> </a:t>
            </a:r>
            <a:r>
              <a:rPr sz="2000" b="1" i="0" u="none" cap="none" spc="0">
                <a:ln>
                  <a:noFill/>
                </a:ln>
                <a:latin typeface="思源宋体"/>
                <a:ea typeface="思源宋体"/>
                <a:cs typeface="思源宋体"/>
              </a:rPr>
              <a:t>18 revised</a:t>
            </a:r>
            <a:endParaRPr sz="2000" b="1" i="0" u="none" kern="1200" cap="none" spc="0" baseline="0">
              <a:ln>
                <a:noFill/>
              </a:ln>
              <a:latin typeface="思源宋体"/>
              <a:ea typeface="思源宋体"/>
              <a:cs typeface="思源宋体"/>
            </a:endParaRPr>
          </a:p>
        </p:txBody>
      </p:sp>
      <p:sp>
        <p:nvSpPr>
          <p:cNvPr id="18" name="Q19 (single choice): “one planner” combines self"/>
          <p:cNvSpPr>
            <a:spLocks noGrp="1"/>
          </p:cNvSpPr>
          <p:nvPr/>
        </p:nvSpPr>
        <p:spPr>
          <a:xfrm>
            <a:off x="711232" y="6467475"/>
            <a:ext cx="10769632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65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Q19 single choice; Q21/Q35 multiple choice. </a:t>
            </a:r>
            <a:r>
              <a:rPr noProof="0">
                <a:ln>
                  <a:noFill/>
                </a:ln>
                <a:effectLst/>
                <a:uLnTx/>
                <a:uFillTx/>
                <a:sym typeface="+mn-ea"/>
              </a:rPr>
              <a:t>Surveys: n=</a:t>
            </a:r>
            <a:r>
              <a:rPr lang="en-US" noProof="0">
                <a:ln>
                  <a:noFill/>
                </a:ln>
                <a:effectLst/>
                <a:uLnTx/>
                <a:uFillTx/>
                <a:sym typeface="+mn-ea"/>
              </a:rPr>
              <a:t>3</a:t>
            </a:r>
            <a:r>
              <a:rPr noProof="0">
                <a:ln>
                  <a:noFill/>
                </a:ln>
                <a:effectLst/>
                <a:uLnTx/>
                <a:uFillTx/>
                <a:sym typeface="+mn-ea"/>
              </a:rPr>
              <a:t>6 and n=</a:t>
            </a:r>
            <a:r>
              <a:rPr lang="en-US" noProof="0">
                <a:ln>
                  <a:noFill/>
                </a:ln>
                <a:effectLst/>
                <a:uLnTx/>
                <a:uFillTx/>
                <a:sym typeface="+mn-ea"/>
              </a:rPr>
              <a:t>18</a:t>
            </a:r>
            <a:r>
              <a:rPr noProof="0">
                <a:ln>
                  <a:noFill/>
                </a:ln>
                <a:effectLst/>
                <a:uLnTx/>
                <a:uFillTx/>
                <a:sym typeface="+mn-ea"/>
              </a:rPr>
              <a:t>, </a:t>
            </a:r>
            <a:r>
              <a:rPr>
                <a:ln>
                  <a:noFill/>
                </a:ln>
                <a:sym typeface="+mn-ea"/>
              </a:rPr>
              <a:t>overlap unknown, not pooled.</a:t>
            </a:r>
            <a:r>
              <a:rPr sz="86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 Interviews T01–T03; separate samples.</a:t>
            </a:r>
            <a:endParaRPr sz="865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graphicFrame>
        <p:nvGraphicFramePr>
          <p:cNvPr id="38" name="Chart"/>
          <p:cNvGraphicFramePr/>
          <p:nvPr/>
        </p:nvGraphicFramePr>
        <p:xfrm>
          <a:off x="685800" y="2143125"/>
          <a:ext cx="6229350" cy="2486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USER RESEARCH · INFORMATION GAPS"/>
          <p:cNvSpPr>
            <a:spLocks noGrp="1"/>
          </p:cNvSpPr>
          <p:nvPr/>
        </p:nvSpPr>
        <p:spPr>
          <a:xfrm>
            <a:off x="711232" y="2476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00" b="1" i="0" u="none" cap="none" spc="12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0</a:t>
            </a:r>
            <a:r>
              <a:rPr lang="en-US" sz="1200" b="1" i="0" u="none" cap="none" spc="12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1</a:t>
            </a:r>
            <a:r>
              <a:rPr sz="1200" b="1" i="0" u="none" cap="none" spc="12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 </a:t>
            </a:r>
            <a:r>
              <a:rPr sz="1200" b="1" i="0" u="none" cap="none" spc="12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USER RESEARCH · INFORMATION GAPS</a:t>
            </a:r>
            <a:endParaRPr sz="1200" b="1" i="0" u="none" kern="1200" cap="none" spc="12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" name="R2"/>
          <p:cNvSpPr>
            <a:spLocks noGrp="1"/>
          </p:cNvSpPr>
          <p:nvPr/>
        </p:nvSpPr>
        <p:spPr>
          <a:xfrm>
            <a:off x="11049000" y="247650"/>
            <a:ext cx="431483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5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0</a:t>
            </a:r>
            <a:r>
              <a:rPr lang="en-US" sz="105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3</a:t>
            </a:r>
            <a:endParaRPr lang="en-US" sz="105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11232" y="482632"/>
            <a:ext cx="10769632" cy="0"/>
          </a:xfrm>
          <a:prstGeom prst="line">
            <a:avLst/>
          </a:prstGeom>
          <a:noFill/>
          <a:ln w="9525">
            <a:solidFill>
              <a:srgbClr val="C8C0B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" name="Missing details became problems on site"/>
          <p:cNvSpPr>
            <a:spLocks noGrp="1"/>
          </p:cNvSpPr>
          <p:nvPr/>
        </p:nvSpPr>
        <p:spPr>
          <a:xfrm>
            <a:off x="711232" y="790575"/>
            <a:ext cx="10769632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>
                <a:solidFill>
                  <a:srgbClr val="263238"/>
                </a:solidFill>
                <a:latin typeface="思源宋体"/>
                <a:ea typeface="思源宋体"/>
                <a:cs typeface="思源宋体"/>
              </a:defRPr>
            </a:pPr>
            <a:r>
              <a:rPr sz="3000" b="1" i="0" u="none" cap="none" spc="0">
                <a:ln>
                  <a:noFill/>
                </a:ln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Missing details became problems on site</a:t>
            </a:r>
            <a:endParaRPr sz="3000" b="1" i="0" u="none" kern="1200" cap="none" spc="0" baseline="0">
              <a:ln>
                <a:noFill/>
              </a:ln>
              <a:solidFill>
                <a:srgbClr val="263238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5" name="“Have I overlooked anything?”"/>
          <p:cNvSpPr>
            <a:spLocks noGrp="1"/>
          </p:cNvSpPr>
          <p:nvPr/>
        </p:nvSpPr>
        <p:spPr>
          <a:xfrm>
            <a:off x="895350" y="1600200"/>
            <a:ext cx="8667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250" b="0">
                <a:solidFill>
                  <a:srgbClr val="263238"/>
                </a:solidFill>
                <a:latin typeface="思源宋体"/>
                <a:ea typeface="思源宋体"/>
                <a:cs typeface="思源宋体"/>
              </a:defRPr>
            </a:pPr>
            <a:r>
              <a:rPr sz="2250" b="0" i="0" u="none" cap="none" spc="0">
                <a:ln>
                  <a:noFill/>
                </a:ln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“Have I overlooked anything?”</a:t>
            </a:r>
            <a:endParaRPr sz="2250" b="0" i="0" u="none" kern="1200" cap="none" spc="0" baseline="0">
              <a:ln>
                <a:noFill/>
              </a:ln>
              <a:solidFill>
                <a:srgbClr val="263238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711232" y="1619250"/>
            <a:ext cx="0" cy="447675"/>
          </a:xfrm>
          <a:prstGeom prst="line">
            <a:avLst/>
          </a:prstGeom>
          <a:noFill/>
          <a:ln w="38100">
            <a:solidFill>
              <a:srgbClr val="B96A4B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7" name="Memorial visitor, translated"/>
          <p:cNvSpPr>
            <a:spLocks noGrp="1"/>
          </p:cNvSpPr>
          <p:nvPr/>
        </p:nvSpPr>
        <p:spPr>
          <a:xfrm>
            <a:off x="9182100" y="1771650"/>
            <a:ext cx="23050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Memorial visitor, translated</a:t>
            </a:r>
            <a:endParaRPr sz="1125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graphicFrame>
        <p:nvGraphicFramePr>
          <p:cNvPr id="26" name="表格 7"/>
          <p:cNvGraphicFramePr/>
          <p:nvPr/>
        </p:nvGraphicFramePr>
        <p:xfrm>
          <a:off x="711232" y="2409825"/>
          <a:ext cx="10769600" cy="3186430"/>
        </p:xfrm>
        <a:graphic>
          <a:graphicData uri="http://schemas.openxmlformats.org/drawingml/2006/table">
            <a:tbl>
              <a:tblPr/>
              <a:tblGrid>
                <a:gridCol w="2238375"/>
                <a:gridCol w="3552825"/>
                <a:gridCol w="4978432"/>
              </a:tblGrid>
              <a:tr h="527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55C52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Recalled experience</a:t>
                      </a:r>
                      <a:endParaRPr sz="1500" b="1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DCE3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55C52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What was missing before departure</a:t>
                      </a:r>
                      <a:endParaRPr sz="1500" b="1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DCE3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55C52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What happened on site</a:t>
                      </a:r>
                      <a:endParaRPr sz="1500" b="1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DCE3DC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Memorial visit · T03</a:t>
                      </a:r>
                      <a:endParaRPr sz="1500" b="1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6E6A61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Opening and parking were checked.</a:t>
                      </a:r>
                      <a:endParaRPr sz="1500" b="0">
                        <a:solidFill>
                          <a:srgbClr val="6E6A61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  <a:p>
                      <a:r>
                        <a:rPr sz="1500" b="0">
                          <a:solidFill>
                            <a:srgbClr val="6E6A61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Visit length, heat and meals were not.</a:t>
                      </a:r>
                      <a:endParaRPr sz="1500" b="0">
                        <a:solidFill>
                          <a:srgbClr val="6E6A61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6E6A61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The visit took about 30 minutes. Outdoor stops</a:t>
                      </a:r>
                      <a:endParaRPr sz="1500" b="0">
                        <a:solidFill>
                          <a:srgbClr val="6E6A61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  <a:p>
                      <a:r>
                        <a:rPr sz="1500" b="0">
                          <a:solidFill>
                            <a:srgbClr val="6E6A61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followed in the heat. Dinner came around 9 pm.</a:t>
                      </a:r>
                      <a:endParaRPr sz="1500" b="0">
                        <a:solidFill>
                          <a:srgbClr val="6E6A61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F4F0E8"/>
                    </a:solidFill>
                  </a:tcPr>
                </a:tc>
              </a:tr>
              <a:tr h="87820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Internal transit · T02</a:t>
                      </a:r>
                      <a:endParaRPr sz="1500" b="1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6E6A61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Transport inside the scenic area</a:t>
                      </a:r>
                      <a:endParaRPr sz="1500" b="0">
                        <a:solidFill>
                          <a:srgbClr val="6E6A61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  <a:p>
                      <a:r>
                        <a:rPr sz="1500" b="0">
                          <a:solidFill>
                            <a:srgbClr val="6E6A61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was unfamiliar.</a:t>
                      </a:r>
                      <a:endParaRPr sz="1500" b="0">
                        <a:solidFill>
                          <a:srgbClr val="6E6A61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6E6A61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Tickets were bought at the entrance,</a:t>
                      </a:r>
                      <a:endParaRPr sz="1500" b="0">
                        <a:solidFill>
                          <a:srgbClr val="6E6A61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  <a:p>
                      <a:r>
                        <a:rPr sz="1500" b="0">
                          <a:solidFill>
                            <a:srgbClr val="6E6A61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which cost extra time.</a:t>
                      </a:r>
                      <a:endParaRPr sz="1500" b="0">
                        <a:solidFill>
                          <a:srgbClr val="6E6A61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F4F0E8"/>
                    </a:solidFill>
                  </a:tcPr>
                </a:tc>
              </a:tr>
              <a:tr h="80581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Rural trip · T03</a:t>
                      </a:r>
                      <a:endParaRPr sz="1500" b="1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6E6A61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Local ride-hailing availability</a:t>
                      </a:r>
                      <a:endParaRPr sz="1500" b="0">
                        <a:solidFill>
                          <a:srgbClr val="6E6A61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  <a:p>
                      <a:r>
                        <a:rPr sz="1500" b="0">
                          <a:solidFill>
                            <a:srgbClr val="6E6A61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was unknown.</a:t>
                      </a:r>
                      <a:endParaRPr sz="1500" b="0">
                        <a:solidFill>
                          <a:srgbClr val="6E6A61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6E6A61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Almost no rides were available.</a:t>
                      </a:r>
                      <a:endParaRPr sz="1500" b="0">
                        <a:solidFill>
                          <a:srgbClr val="6E6A61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  <a:p>
                      <a:r>
                        <a:rPr sz="1500" b="0">
                          <a:solidFill>
                            <a:srgbClr val="6E6A61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The account gives no later resolution.</a:t>
                      </a:r>
                      <a:endParaRPr sz="1500" b="0">
                        <a:solidFill>
                          <a:srgbClr val="6E6A61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F4F0E8"/>
                    </a:solidFill>
                  </a:tcPr>
                </a:tc>
              </a:tr>
            </a:tbl>
          </a:graphicData>
        </a:graphic>
      </p:graphicFrame>
      <p:sp>
        <p:nvSpPr>
          <p:cNvPr id="16" name="Sources: interview records T02/T03; survey Q29 ("/>
          <p:cNvSpPr>
            <a:spLocks noGrp="1"/>
          </p:cNvSpPr>
          <p:nvPr/>
        </p:nvSpPr>
        <p:spPr>
          <a:xfrm>
            <a:off x="711232" y="6467475"/>
            <a:ext cx="10769632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65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Sources: interviews T02/T03. </a:t>
            </a:r>
            <a:endParaRPr sz="865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USER RESEARCH · INTERVIEWS"/>
          <p:cNvSpPr>
            <a:spLocks noGrp="1"/>
          </p:cNvSpPr>
          <p:nvPr/>
        </p:nvSpPr>
        <p:spPr>
          <a:xfrm>
            <a:off x="711232" y="2476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00" b="1" i="0" u="none" cap="none" spc="12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0</a:t>
            </a:r>
            <a:r>
              <a:rPr lang="en-US" sz="1200" b="1" i="0" u="none" cap="none" spc="12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1</a:t>
            </a:r>
            <a:r>
              <a:rPr sz="1200" b="1" i="0" u="none" cap="none" spc="12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 </a:t>
            </a:r>
            <a:r>
              <a:rPr sz="1200" b="1" i="0" u="none" cap="none" spc="12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USER RESEARCH · INTERVIEWS</a:t>
            </a:r>
            <a:endParaRPr sz="1200" b="1" i="0" u="none" kern="1200" cap="none" spc="12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" name="R2"/>
          <p:cNvSpPr>
            <a:spLocks noGrp="1"/>
          </p:cNvSpPr>
          <p:nvPr/>
        </p:nvSpPr>
        <p:spPr>
          <a:xfrm>
            <a:off x="11049000" y="247650"/>
            <a:ext cx="431483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5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04</a:t>
            </a:r>
            <a:endParaRPr sz="105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11232" y="482632"/>
            <a:ext cx="10769632" cy="0"/>
          </a:xfrm>
          <a:prstGeom prst="line">
            <a:avLst/>
          </a:prstGeom>
          <a:noFill/>
          <a:ln w="9525">
            <a:solidFill>
              <a:srgbClr val="C8C0B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" name="Where planning became difficult"/>
          <p:cNvSpPr>
            <a:spLocks noGrp="1"/>
          </p:cNvSpPr>
          <p:nvPr/>
        </p:nvSpPr>
        <p:spPr>
          <a:xfrm>
            <a:off x="711232" y="790575"/>
            <a:ext cx="10769632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>
                <a:solidFill>
                  <a:srgbClr val="263238"/>
                </a:solidFill>
                <a:latin typeface="思源宋体"/>
                <a:ea typeface="思源宋体"/>
                <a:cs typeface="思源宋体"/>
              </a:defRPr>
            </a:pPr>
            <a:r>
              <a:rPr sz="3000" b="1" i="0" u="none" cap="none" spc="0">
                <a:ln>
                  <a:noFill/>
                </a:ln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Where planning became difficult</a:t>
            </a:r>
            <a:endParaRPr sz="3000" b="1" i="0" u="none" kern="1200" cap="none" spc="0" baseline="0">
              <a:ln>
                <a:noFill/>
              </a:ln>
              <a:solidFill>
                <a:srgbClr val="263238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5" name="Three cases explain the work behind a tr"/>
          <p:cNvSpPr>
            <a:spLocks noGrp="1"/>
          </p:cNvSpPr>
          <p:nvPr/>
        </p:nvSpPr>
        <p:spPr>
          <a:xfrm>
            <a:off x="711232" y="1543050"/>
            <a:ext cx="10763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725" b="1" i="0" u="none" cap="none" spc="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Three cases explain the work behind a travel plan</a:t>
            </a:r>
            <a:endParaRPr sz="1725" b="1" i="0" u="none" kern="1200" cap="none" spc="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6" name="01"/>
          <p:cNvSpPr>
            <a:spLocks noGrp="1"/>
          </p:cNvSpPr>
          <p:nvPr/>
        </p:nvSpPr>
        <p:spPr>
          <a:xfrm>
            <a:off x="711232" y="2143125"/>
            <a:ext cx="571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>
                <a:solidFill>
                  <a:srgbClr val="B96A4B"/>
                </a:solidFill>
                <a:latin typeface="思源宋体"/>
                <a:ea typeface="思源宋体"/>
                <a:cs typeface="思源宋体"/>
              </a:defRPr>
            </a:pPr>
            <a:r>
              <a:rPr sz="3000" b="1" i="0" u="none" cap="none" spc="0">
                <a:ln>
                  <a:noFill/>
                </a:ln>
                <a:solidFill>
                  <a:srgbClr val="B96A4B"/>
                </a:solidFill>
                <a:latin typeface="思源宋体"/>
                <a:ea typeface="思源宋体"/>
                <a:cs typeface="思源宋体"/>
              </a:rPr>
              <a:t>01</a:t>
            </a:r>
            <a:endParaRPr sz="3000" b="1" i="0" u="none" kern="1200" cap="none" spc="0" baseline="0">
              <a:ln>
                <a:noFill/>
              </a:ln>
              <a:solidFill>
                <a:srgbClr val="B96A4B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7" name="Route decisions&#10;need trade-offs"/>
          <p:cNvSpPr>
            <a:spLocks noGrp="1"/>
          </p:cNvSpPr>
          <p:nvPr/>
        </p:nvSpPr>
        <p:spPr>
          <a:xfrm>
            <a:off x="1416082" y="2152650"/>
            <a:ext cx="2597182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75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Route decisions</a:t>
            </a:r>
            <a:endParaRPr sz="1875" b="1" i="0" u="none" kern="1200" cap="none" spc="0" baseline="0">
              <a:ln>
                <a:noFill/>
              </a:ln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75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need trade-offs</a:t>
            </a:r>
            <a:endParaRPr sz="1875" b="1" i="0" u="none" kern="1200" cap="none" spc="0" baseline="0">
              <a:ln>
                <a:noFill/>
              </a:ln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8" name="T01  Arxan trip"/>
          <p:cNvSpPr>
            <a:spLocks noGrp="1"/>
          </p:cNvSpPr>
          <p:nvPr/>
        </p:nvSpPr>
        <p:spPr>
          <a:xfrm>
            <a:off x="711232" y="3143250"/>
            <a:ext cx="3302032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00" b="1" i="0" u="none" cap="none" spc="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T01  Arxan trip</a:t>
            </a:r>
            <a:endParaRPr sz="1200" b="1" i="0" u="none" kern="1200" cap="none" spc="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9" name="Choosing an arrival airport meant&#10;compar"/>
          <p:cNvSpPr>
            <a:spLocks noGrp="1"/>
          </p:cNvSpPr>
          <p:nvPr/>
        </p:nvSpPr>
        <p:spPr>
          <a:xfrm>
            <a:off x="711232" y="3581400"/>
            <a:ext cx="3302032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Choosing an arrival airport meant</a:t>
            </a:r>
            <a:endParaRPr sz="1425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comparing flight times with the route</a:t>
            </a:r>
            <a:endParaRPr sz="1425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and scenery. The route framework</a:t>
            </a:r>
            <a:endParaRPr sz="1425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took the most planning effort.</a:t>
            </a:r>
            <a:endParaRPr sz="1425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4206907" y="2181225"/>
            <a:ext cx="0" cy="2619375"/>
          </a:xfrm>
          <a:prstGeom prst="line">
            <a:avLst/>
          </a:prstGeom>
          <a:noFill/>
          <a:ln w="9525">
            <a:solidFill>
              <a:srgbClr val="C8C0B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1" name="02"/>
          <p:cNvSpPr>
            <a:spLocks noGrp="1"/>
          </p:cNvSpPr>
          <p:nvPr/>
        </p:nvSpPr>
        <p:spPr>
          <a:xfrm>
            <a:off x="4445032" y="2143125"/>
            <a:ext cx="571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>
                <a:solidFill>
                  <a:srgbClr val="B96A4B"/>
                </a:solidFill>
                <a:latin typeface="思源宋体"/>
                <a:ea typeface="思源宋体"/>
                <a:cs typeface="思源宋体"/>
              </a:defRPr>
            </a:pPr>
            <a:r>
              <a:rPr sz="3000" b="1" i="0" u="none" cap="none" spc="0">
                <a:ln>
                  <a:noFill/>
                </a:ln>
                <a:solidFill>
                  <a:srgbClr val="B96A4B"/>
                </a:solidFill>
                <a:latin typeface="思源宋体"/>
                <a:ea typeface="思源宋体"/>
                <a:cs typeface="思源宋体"/>
              </a:rPr>
              <a:t>02</a:t>
            </a:r>
            <a:endParaRPr sz="3000" b="1" i="0" u="none" kern="1200" cap="none" spc="0" baseline="0">
              <a:ln>
                <a:noFill/>
              </a:ln>
              <a:solidFill>
                <a:srgbClr val="B96A4B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12" name="Participation&#10;is uneven"/>
          <p:cNvSpPr>
            <a:spLocks noGrp="1"/>
          </p:cNvSpPr>
          <p:nvPr/>
        </p:nvSpPr>
        <p:spPr>
          <a:xfrm>
            <a:off x="5149882" y="2152650"/>
            <a:ext cx="2597182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75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Participation</a:t>
            </a:r>
            <a:endParaRPr sz="1875" b="1" i="0" u="none" kern="1200" cap="none" spc="0" baseline="0">
              <a:ln>
                <a:noFill/>
              </a:ln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75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is uneven</a:t>
            </a:r>
            <a:endParaRPr sz="1875" b="1" i="0" u="none" kern="1200" cap="none" spc="0" baseline="0">
              <a:ln>
                <a:noFill/>
              </a:ln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3" name="T02  Jiangsu graduation trip"/>
          <p:cNvSpPr>
            <a:spLocks noGrp="1"/>
          </p:cNvSpPr>
          <p:nvPr/>
        </p:nvSpPr>
        <p:spPr>
          <a:xfrm>
            <a:off x="4445032" y="3143250"/>
            <a:ext cx="3302032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00" b="1" i="0" u="none" cap="none" spc="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T02  Jiangsu graduation trip</a:t>
            </a:r>
            <a:endParaRPr sz="1200" b="1" i="0" u="none" kern="1200" cap="none" spc="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4" name="One or two people proposed plans&#10;while o"/>
          <p:cNvSpPr>
            <a:spLocks noGrp="1"/>
          </p:cNvSpPr>
          <p:nvPr/>
        </p:nvSpPr>
        <p:spPr>
          <a:xfrm>
            <a:off x="4445032" y="3581400"/>
            <a:ext cx="3302032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One or two people proposed plans</a:t>
            </a:r>
            <a:endParaRPr sz="1425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while others stayed silent.</a:t>
            </a:r>
            <a:endParaRPr sz="1425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Direct discussion brought them</a:t>
            </a:r>
            <a:endParaRPr sz="1425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into the planning process.</a:t>
            </a:r>
            <a:endParaRPr sz="1425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7940707" y="2181225"/>
            <a:ext cx="0" cy="2619375"/>
          </a:xfrm>
          <a:prstGeom prst="line">
            <a:avLst/>
          </a:prstGeom>
          <a:noFill/>
          <a:ln w="9525">
            <a:solidFill>
              <a:srgbClr val="C8C0B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6" name="03"/>
          <p:cNvSpPr>
            <a:spLocks noGrp="1"/>
          </p:cNvSpPr>
          <p:nvPr/>
        </p:nvSpPr>
        <p:spPr>
          <a:xfrm>
            <a:off x="8178832" y="2143125"/>
            <a:ext cx="571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>
                <a:solidFill>
                  <a:srgbClr val="B96A4B"/>
                </a:solidFill>
                <a:latin typeface="思源宋体"/>
                <a:ea typeface="思源宋体"/>
                <a:cs typeface="思源宋体"/>
              </a:defRPr>
            </a:pPr>
            <a:r>
              <a:rPr sz="3000" b="1" i="0" u="none" cap="none" spc="0">
                <a:ln>
                  <a:noFill/>
                </a:ln>
                <a:solidFill>
                  <a:srgbClr val="B96A4B"/>
                </a:solidFill>
                <a:latin typeface="思源宋体"/>
                <a:ea typeface="思源宋体"/>
                <a:cs typeface="思源宋体"/>
              </a:rPr>
              <a:t>03</a:t>
            </a:r>
            <a:endParaRPr sz="3000" b="1" i="0" u="none" kern="1200" cap="none" spc="0" baseline="0">
              <a:ln>
                <a:noFill/>
              </a:ln>
              <a:solidFill>
                <a:srgbClr val="B96A4B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17" name="Checked details&#10;can still be incomplete"/>
          <p:cNvSpPr>
            <a:spLocks noGrp="1"/>
          </p:cNvSpPr>
          <p:nvPr/>
        </p:nvSpPr>
        <p:spPr>
          <a:xfrm>
            <a:off x="8883682" y="2152650"/>
            <a:ext cx="2597182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75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Checked details</a:t>
            </a:r>
            <a:endParaRPr sz="1875" b="1" i="0" u="none" kern="1200" cap="none" spc="0" baseline="0">
              <a:ln>
                <a:noFill/>
              </a:ln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75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can still be incomplete</a:t>
            </a:r>
            <a:endParaRPr sz="1875" b="1" i="0" u="none" kern="1200" cap="none" spc="0" baseline="0">
              <a:ln>
                <a:noFill/>
              </a:ln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8" name="T03  Memorial visit"/>
          <p:cNvSpPr>
            <a:spLocks noGrp="1"/>
          </p:cNvSpPr>
          <p:nvPr/>
        </p:nvSpPr>
        <p:spPr>
          <a:xfrm>
            <a:off x="8178832" y="3143250"/>
            <a:ext cx="3302032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00" b="1" i="0" u="none" cap="none" spc="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T03  Memorial visit</a:t>
            </a:r>
            <a:endParaRPr sz="1200" b="1" i="0" u="none" kern="1200" cap="none" spc="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9" name="Opening hours, parking and stops&#10;were ch"/>
          <p:cNvSpPr>
            <a:spLocks noGrp="1"/>
          </p:cNvSpPr>
          <p:nvPr/>
        </p:nvSpPr>
        <p:spPr>
          <a:xfrm>
            <a:off x="8178832" y="3581400"/>
            <a:ext cx="3302032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Opening hours, parking and stops</a:t>
            </a:r>
            <a:endParaRPr sz="1425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were checked. Visit length, heat</a:t>
            </a:r>
            <a:endParaRPr sz="1425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and meal breaks still received</a:t>
            </a:r>
            <a:endParaRPr sz="1425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too little attention.</a:t>
            </a:r>
            <a:endParaRPr sz="1425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711232" y="5086350"/>
            <a:ext cx="10769632" cy="0"/>
          </a:xfrm>
          <a:prstGeom prst="line">
            <a:avLst/>
          </a:prstGeom>
          <a:noFill/>
          <a:ln w="9525">
            <a:solidFill>
              <a:srgbClr val="C8C0B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1" name="“Have I overlooked anything?”"/>
          <p:cNvSpPr>
            <a:spLocks noGrp="1"/>
          </p:cNvSpPr>
          <p:nvPr/>
        </p:nvSpPr>
        <p:spPr>
          <a:xfrm>
            <a:off x="962025" y="5381625"/>
            <a:ext cx="80962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325" b="0">
                <a:solidFill>
                  <a:srgbClr val="263238"/>
                </a:solidFill>
                <a:latin typeface="思源宋体"/>
                <a:ea typeface="思源宋体"/>
                <a:cs typeface="思源宋体"/>
              </a:defRPr>
            </a:pPr>
            <a:r>
              <a:rPr sz="2325" b="0" i="0" u="none" cap="none" spc="0">
                <a:ln>
                  <a:noFill/>
                </a:ln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“Have I overlooked anything?”</a:t>
            </a:r>
            <a:endParaRPr sz="2325" b="0" i="0" u="none" kern="1200" cap="none" spc="0" baseline="0">
              <a:ln>
                <a:noFill/>
              </a:ln>
              <a:solidFill>
                <a:srgbClr val="263238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711232" y="5381625"/>
            <a:ext cx="0" cy="657225"/>
          </a:xfrm>
          <a:prstGeom prst="line">
            <a:avLst/>
          </a:prstGeom>
          <a:noFill/>
          <a:ln w="47625">
            <a:solidFill>
              <a:srgbClr val="B96A4B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3" name="T03, translated quote"/>
          <p:cNvSpPr>
            <a:spLocks noGrp="1"/>
          </p:cNvSpPr>
          <p:nvPr/>
        </p:nvSpPr>
        <p:spPr>
          <a:xfrm>
            <a:off x="8810625" y="5600700"/>
            <a:ext cx="2667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0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T03, translated quote</a:t>
            </a:r>
            <a:endParaRPr sz="120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4" name="Sources: interview records T01–T03 in 旅游"/>
          <p:cNvSpPr>
            <a:spLocks noGrp="1"/>
          </p:cNvSpPr>
          <p:nvPr/>
        </p:nvSpPr>
        <p:spPr>
          <a:xfrm>
            <a:off x="711232" y="6477000"/>
            <a:ext cx="10769632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65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Sources: interview records T01–T03. Case summaries, not population-wide frequencies.</a:t>
            </a:r>
            <a:endParaRPr sz="865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USER RESEARCH · ADAPTING &amp; USING INFORMATION"/>
          <p:cNvSpPr>
            <a:spLocks noGrp="1"/>
          </p:cNvSpPr>
          <p:nvPr/>
        </p:nvSpPr>
        <p:spPr>
          <a:xfrm>
            <a:off x="711232" y="2476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00" b="1" i="0" u="none" cap="none" spc="12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0</a:t>
            </a:r>
            <a:r>
              <a:rPr lang="en-US" sz="1200" b="1" i="0" u="none" cap="none" spc="12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1</a:t>
            </a:r>
            <a:r>
              <a:rPr sz="1200" b="1" i="0" u="none" cap="none" spc="12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 </a:t>
            </a:r>
            <a:r>
              <a:rPr sz="1200" b="1" i="0" u="none" cap="none" spc="12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USER RESEARCH · ADAPTING &amp; USING INFORMATION</a:t>
            </a:r>
            <a:endParaRPr sz="1200" b="1" i="0" u="none" kern="1200" cap="none" spc="12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" name="R4"/>
          <p:cNvSpPr>
            <a:spLocks noGrp="1"/>
          </p:cNvSpPr>
          <p:nvPr/>
        </p:nvSpPr>
        <p:spPr>
          <a:xfrm>
            <a:off x="11049000" y="247650"/>
            <a:ext cx="431483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05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0</a:t>
            </a:r>
            <a:r>
              <a:rPr lang="en-US" sz="105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5</a:t>
            </a:r>
            <a:endParaRPr lang="en-US" sz="105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11232" y="482632"/>
            <a:ext cx="10769632" cy="0"/>
          </a:xfrm>
          <a:prstGeom prst="line">
            <a:avLst/>
          </a:prstGeom>
          <a:noFill/>
          <a:ln w="9525">
            <a:solidFill>
              <a:srgbClr val="C8C0B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" name="Travelers checked alternatives and kept flexibil"/>
          <p:cNvSpPr>
            <a:spLocks noGrp="1"/>
          </p:cNvSpPr>
          <p:nvPr/>
        </p:nvSpPr>
        <p:spPr>
          <a:xfrm>
            <a:off x="711232" y="790575"/>
            <a:ext cx="10769632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>
                <a:solidFill>
                  <a:srgbClr val="263238"/>
                </a:solidFill>
                <a:latin typeface="思源宋体"/>
                <a:ea typeface="思源宋体"/>
                <a:cs typeface="思源宋体"/>
              </a:defRPr>
            </a:pPr>
            <a:r>
              <a:rPr sz="3000" b="1" i="0" u="none" cap="none" spc="0">
                <a:ln>
                  <a:noFill/>
                </a:ln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eg. </a:t>
            </a:r>
            <a:r>
              <a:rPr sz="3000" b="1" i="0" u="none" cap="none" spc="0">
                <a:ln>
                  <a:noFill/>
                </a:ln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Travelers checked alternatives and kept flexibility</a:t>
            </a:r>
            <a:endParaRPr sz="3000" b="1" i="0" u="none" kern="1200" cap="none" spc="0" baseline="0">
              <a:ln>
                <a:noFill/>
              </a:ln>
              <a:solidFill>
                <a:srgbClr val="263238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5" name="Melbourne market visit: a recalled sequence of a"/>
          <p:cNvSpPr>
            <a:spLocks noGrp="1"/>
          </p:cNvSpPr>
          <p:nvPr/>
        </p:nvSpPr>
        <p:spPr>
          <a:xfrm>
            <a:off x="711232" y="16002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725" b="1" i="0" u="none" cap="none" spc="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Melbourne market visit: a recalled sequence of actions</a:t>
            </a:r>
            <a:endParaRPr sz="1725" b="1" i="0" u="none" kern="1200" cap="none" spc="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6" name="01"/>
          <p:cNvSpPr>
            <a:spLocks noGrp="1"/>
          </p:cNvSpPr>
          <p:nvPr/>
        </p:nvSpPr>
        <p:spPr>
          <a:xfrm>
            <a:off x="711232" y="2143125"/>
            <a:ext cx="2340007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25" b="1">
                <a:solidFill>
                  <a:srgbClr val="B96A4B"/>
                </a:solidFill>
                <a:latin typeface="思源宋体"/>
                <a:ea typeface="思源宋体"/>
                <a:cs typeface="思源宋体"/>
              </a:defRPr>
            </a:pPr>
            <a:r>
              <a:rPr sz="2925" b="1" i="0" u="none" cap="none" spc="0">
                <a:ln>
                  <a:noFill/>
                </a:ln>
                <a:solidFill>
                  <a:srgbClr val="B96A4B"/>
                </a:solidFill>
                <a:latin typeface="思源宋体"/>
                <a:ea typeface="思源宋体"/>
                <a:cs typeface="思源宋体"/>
              </a:rPr>
              <a:t>01</a:t>
            </a:r>
            <a:endParaRPr sz="2925" b="1" i="0" u="none" kern="1200" cap="none" spc="0" baseline="0">
              <a:ln>
                <a:noFill/>
              </a:ln>
              <a:solidFill>
                <a:srgbClr val="B96A4B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7" name="The visit disappointed"/>
          <p:cNvSpPr>
            <a:spLocks noGrp="1"/>
          </p:cNvSpPr>
          <p:nvPr/>
        </p:nvSpPr>
        <p:spPr>
          <a:xfrm>
            <a:off x="711232" y="2703195"/>
            <a:ext cx="2340007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The visit disappointed</a:t>
            </a:r>
            <a:endParaRPr sz="1650" b="1" i="0" u="none" kern="1200" cap="none" spc="0" baseline="0">
              <a:ln>
                <a:noFill/>
              </a:ln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8" name="The market felt crowded&#10;and unappealing."/>
          <p:cNvSpPr>
            <a:spLocks noGrp="1"/>
          </p:cNvSpPr>
          <p:nvPr/>
        </p:nvSpPr>
        <p:spPr>
          <a:xfrm>
            <a:off x="711232" y="3177540"/>
            <a:ext cx="2340007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The market felt crowded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and unappealing.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3253740" y="2181225"/>
            <a:ext cx="1270" cy="1557020"/>
          </a:xfrm>
          <a:prstGeom prst="line">
            <a:avLst/>
          </a:prstGeom>
          <a:noFill/>
          <a:ln w="9525">
            <a:solidFill>
              <a:srgbClr val="C8C0B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0" name="02"/>
          <p:cNvSpPr>
            <a:spLocks noGrp="1"/>
          </p:cNvSpPr>
          <p:nvPr/>
        </p:nvSpPr>
        <p:spPr>
          <a:xfrm>
            <a:off x="3521107" y="2143125"/>
            <a:ext cx="2340007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25" b="1">
                <a:solidFill>
                  <a:srgbClr val="B96A4B"/>
                </a:solidFill>
                <a:latin typeface="思源宋体"/>
                <a:ea typeface="思源宋体"/>
                <a:cs typeface="思源宋体"/>
              </a:defRPr>
            </a:pPr>
            <a:r>
              <a:rPr sz="2925" b="1" i="0" u="none" cap="none" spc="0">
                <a:ln>
                  <a:noFill/>
                </a:ln>
                <a:solidFill>
                  <a:srgbClr val="B96A4B"/>
                </a:solidFill>
                <a:latin typeface="思源宋体"/>
                <a:ea typeface="思源宋体"/>
                <a:cs typeface="思源宋体"/>
              </a:rPr>
              <a:t>02</a:t>
            </a:r>
            <a:endParaRPr sz="2925" b="1" i="0" u="none" kern="1200" cap="none" spc="0" baseline="0">
              <a:ln>
                <a:noFill/>
              </a:ln>
              <a:solidFill>
                <a:srgbClr val="B96A4B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11" name="Search for alternatives"/>
          <p:cNvSpPr>
            <a:spLocks noGrp="1"/>
          </p:cNvSpPr>
          <p:nvPr/>
        </p:nvSpPr>
        <p:spPr>
          <a:xfrm>
            <a:off x="3521107" y="2703195"/>
            <a:ext cx="2340007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Search for alternatives</a:t>
            </a:r>
            <a:endParaRPr sz="1650" b="1" i="0" u="none" kern="1200" cap="none" spc="0" baseline="0">
              <a:ln>
                <a:noFill/>
              </a:ln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2" name="Looked for a similar&#10;market on Xiaohongshu."/>
          <p:cNvSpPr>
            <a:spLocks noGrp="1"/>
          </p:cNvSpPr>
          <p:nvPr/>
        </p:nvSpPr>
        <p:spPr>
          <a:xfrm>
            <a:off x="3521107" y="3177540"/>
            <a:ext cx="2340007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Looked for a similar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market on Xiaohongshu.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64250" y="2181225"/>
            <a:ext cx="635" cy="1557020"/>
          </a:xfrm>
          <a:prstGeom prst="line">
            <a:avLst/>
          </a:prstGeom>
          <a:noFill/>
          <a:ln w="9525">
            <a:solidFill>
              <a:srgbClr val="C8C0B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4" name="03"/>
          <p:cNvSpPr>
            <a:spLocks noGrp="1"/>
          </p:cNvSpPr>
          <p:nvPr/>
        </p:nvSpPr>
        <p:spPr>
          <a:xfrm>
            <a:off x="6330982" y="2143125"/>
            <a:ext cx="2340007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25" b="1">
                <a:solidFill>
                  <a:srgbClr val="B96A4B"/>
                </a:solidFill>
                <a:latin typeface="思源宋体"/>
                <a:ea typeface="思源宋体"/>
                <a:cs typeface="思源宋体"/>
              </a:defRPr>
            </a:pPr>
            <a:r>
              <a:rPr sz="2925" b="1" i="0" u="none" cap="none" spc="0">
                <a:ln>
                  <a:noFill/>
                </a:ln>
                <a:solidFill>
                  <a:srgbClr val="B96A4B"/>
                </a:solidFill>
                <a:latin typeface="思源宋体"/>
                <a:ea typeface="思源宋体"/>
                <a:cs typeface="思源宋体"/>
              </a:rPr>
              <a:t>03</a:t>
            </a:r>
            <a:endParaRPr sz="2925" b="1" i="0" u="none" kern="1200" cap="none" spc="0" baseline="0">
              <a:ln>
                <a:noFill/>
              </a:ln>
              <a:solidFill>
                <a:srgbClr val="B96A4B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15" name="Verify on the map"/>
          <p:cNvSpPr>
            <a:spLocks noGrp="1"/>
          </p:cNvSpPr>
          <p:nvPr/>
        </p:nvSpPr>
        <p:spPr>
          <a:xfrm>
            <a:off x="6330982" y="2703195"/>
            <a:ext cx="2340007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Verify on the map</a:t>
            </a:r>
            <a:endParaRPr sz="1650" b="1" i="0" u="none" kern="1200" cap="none" spc="0" baseline="0">
              <a:ln>
                <a:noFill/>
              </a:ln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6" name="Checked the new place&#10;on Google Maps."/>
          <p:cNvSpPr>
            <a:spLocks noGrp="1"/>
          </p:cNvSpPr>
          <p:nvPr/>
        </p:nvSpPr>
        <p:spPr>
          <a:xfrm>
            <a:off x="6330982" y="3177540"/>
            <a:ext cx="2340007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Checked the new place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on Google Maps.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8874125" y="2181225"/>
            <a:ext cx="635" cy="1556385"/>
          </a:xfrm>
          <a:prstGeom prst="line">
            <a:avLst/>
          </a:prstGeom>
          <a:noFill/>
          <a:ln w="9525">
            <a:solidFill>
              <a:srgbClr val="C8C0B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8" name="04"/>
          <p:cNvSpPr>
            <a:spLocks noGrp="1"/>
          </p:cNvSpPr>
          <p:nvPr/>
        </p:nvSpPr>
        <p:spPr>
          <a:xfrm>
            <a:off x="9140857" y="2143125"/>
            <a:ext cx="2340007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25" b="1">
                <a:solidFill>
                  <a:srgbClr val="B96A4B"/>
                </a:solidFill>
                <a:latin typeface="思源宋体"/>
                <a:ea typeface="思源宋体"/>
                <a:cs typeface="思源宋体"/>
              </a:defRPr>
            </a:pPr>
            <a:r>
              <a:rPr sz="2925" b="1" i="0" u="none" cap="none" spc="0">
                <a:ln>
                  <a:noFill/>
                </a:ln>
                <a:solidFill>
                  <a:srgbClr val="B96A4B"/>
                </a:solidFill>
                <a:latin typeface="思源宋体"/>
                <a:ea typeface="思源宋体"/>
                <a:cs typeface="思源宋体"/>
              </a:rPr>
              <a:t>04</a:t>
            </a:r>
            <a:endParaRPr sz="2925" b="1" i="0" u="none" kern="1200" cap="none" spc="0" baseline="0">
              <a:ln>
                <a:noFill/>
              </a:ln>
              <a:solidFill>
                <a:srgbClr val="B96A4B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19" name="Travel to the alternative"/>
          <p:cNvSpPr>
            <a:spLocks noGrp="1"/>
          </p:cNvSpPr>
          <p:nvPr/>
        </p:nvSpPr>
        <p:spPr>
          <a:xfrm>
            <a:off x="9140857" y="2703195"/>
            <a:ext cx="2340007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Travel to the alternative</a:t>
            </a:r>
            <a:endParaRPr sz="1650" b="1" i="0" u="none" kern="1200" cap="none" spc="0" baseline="0">
              <a:ln>
                <a:noFill/>
              </a:ln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0" name="Confirmed the information,&#10;then took transport t"/>
          <p:cNvSpPr>
            <a:spLocks noGrp="1"/>
          </p:cNvSpPr>
          <p:nvPr/>
        </p:nvSpPr>
        <p:spPr>
          <a:xfrm>
            <a:off x="9140857" y="3177540"/>
            <a:ext cx="2340007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Confirmed the information,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then took transport there.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704882" y="3963670"/>
            <a:ext cx="10769632" cy="0"/>
          </a:xfrm>
          <a:prstGeom prst="line">
            <a:avLst/>
          </a:prstGeom>
          <a:noFill/>
          <a:ln w="9525">
            <a:solidFill>
              <a:srgbClr val="C8C0B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2" name="Phone search after disruptions (Q32)"/>
          <p:cNvSpPr>
            <a:spLocks noGrp="1"/>
          </p:cNvSpPr>
          <p:nvPr/>
        </p:nvSpPr>
        <p:spPr>
          <a:xfrm>
            <a:off x="704882" y="4130040"/>
            <a:ext cx="7239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00" b="1" i="0" u="none" cap="none" spc="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Phone search after disruptions (Q32)</a:t>
            </a:r>
            <a:endParaRPr sz="1500" b="1" i="0" u="none" kern="1200" cap="none" spc="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3" name="4/6 original     3/3 revised"/>
          <p:cNvSpPr>
            <a:spLocks noGrp="1"/>
          </p:cNvSpPr>
          <p:nvPr/>
        </p:nvSpPr>
        <p:spPr>
          <a:xfrm>
            <a:off x="7613650" y="4082415"/>
            <a:ext cx="385762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75" b="1">
                <a:solidFill>
                  <a:srgbClr val="263238"/>
                </a:solidFill>
                <a:latin typeface="思源宋体"/>
                <a:ea typeface="思源宋体"/>
                <a:cs typeface="思源宋体"/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2</a:t>
            </a:r>
            <a:r>
              <a:rPr lang="en-US" sz="1650" b="1" i="0" u="none" cap="none" spc="0">
                <a:ln>
                  <a:noFill/>
                </a:ln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5</a:t>
            </a:r>
            <a:r>
              <a:rPr sz="1650" b="1" i="0" u="none" cap="none" spc="0">
                <a:ln>
                  <a:noFill/>
                </a:ln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/36 original     18/18 revised</a:t>
            </a:r>
            <a:endParaRPr sz="1875" b="1" i="0" u="none" kern="1200" cap="none" spc="0" baseline="0">
              <a:ln>
                <a:noFill/>
              </a:ln>
              <a:solidFill>
                <a:srgbClr val="263238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701707" y="4549775"/>
            <a:ext cx="10769632" cy="0"/>
          </a:xfrm>
          <a:prstGeom prst="line">
            <a:avLst/>
          </a:prstGeom>
          <a:noFill/>
          <a:ln w="9525">
            <a:solidFill>
              <a:srgbClr val="C8C0B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5" name="Information habits differ"/>
          <p:cNvSpPr>
            <a:spLocks noGrp="1"/>
          </p:cNvSpPr>
          <p:nvPr/>
        </p:nvSpPr>
        <p:spPr>
          <a:xfrm>
            <a:off x="711232" y="4794250"/>
            <a:ext cx="52482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75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75" b="1" i="0" u="none" cap="none" spc="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Information habits differ</a:t>
            </a:r>
            <a:endParaRPr sz="1575" b="1" i="0" u="none" kern="1200" cap="none" spc="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6" name="Guishan traveler: re-searching guides was quick."/>
          <p:cNvSpPr>
            <a:spLocks noGrp="1"/>
          </p:cNvSpPr>
          <p:nvPr/>
        </p:nvSpPr>
        <p:spPr>
          <a:xfrm>
            <a:off x="704882" y="5213985"/>
            <a:ext cx="52482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Guishan traveler: re-searching guides was quick.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Conflicting reviews were weighed against personal needs.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7" name="Simple records can already work"/>
          <p:cNvSpPr>
            <a:spLocks noGrp="1"/>
          </p:cNvSpPr>
          <p:nvPr/>
        </p:nvSpPr>
        <p:spPr>
          <a:xfrm>
            <a:off x="6657975" y="4794250"/>
            <a:ext cx="48196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75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75" b="1" i="0" u="none" cap="none" spc="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Simple records can already work</a:t>
            </a:r>
            <a:endParaRPr sz="1575" b="1" i="0" u="none" kern="1200" cap="none" spc="0" baseline="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8" name="Memorial traveler: planning tools felt like fill"/>
          <p:cNvSpPr>
            <a:spLocks noGrp="1"/>
          </p:cNvSpPr>
          <p:nvPr/>
        </p:nvSpPr>
        <p:spPr>
          <a:xfrm>
            <a:off x="6651625" y="5213985"/>
            <a:ext cx="48196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Memorial traveler: planning tools felt like filling forms.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90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Preferred a memo with “activity, time, notes”.</a:t>
            </a:r>
            <a:endParaRPr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9" name="Sources: T01 Melbourne actions; T02 information "/>
          <p:cNvSpPr>
            <a:spLocks noGrp="1"/>
          </p:cNvSpPr>
          <p:nvPr/>
        </p:nvSpPr>
        <p:spPr>
          <a:xfrm>
            <a:off x="711232" y="6467475"/>
            <a:ext cx="10769632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65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865" b="0" i="0" u="none" cap="none" spc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Sources: T01–T03; Q32 multiple choice. </a:t>
            </a:r>
            <a:endParaRPr sz="865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1" name="Guishan traveler: re-searching guides was quick."/>
          <p:cNvSpPr>
            <a:spLocks noGrp="1"/>
          </p:cNvSpPr>
          <p:nvPr/>
        </p:nvSpPr>
        <p:spPr>
          <a:xfrm>
            <a:off x="711200" y="5887085"/>
            <a:ext cx="1080008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90" b="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lang="en-US" altLang="zh-CN" sz="1390" b="0" i="0" u="none" kern="1200" cap="none" spc="0" baseline="0">
                <a:ln>
                  <a:noFill/>
                </a:ln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Faced with unexpected events, travelers actively seek and verify alternatives. They prefer simple recording methods over complex planning tools.</a:t>
            </a:r>
            <a:endParaRPr lang="en-US" altLang="zh-CN" sz="1390" b="0" i="0" u="none" kern="1200" cap="none" spc="0" baseline="0">
              <a:ln>
                <a:noFill/>
              </a:ln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-rule"/>
          <p:cNvSpPr>
            <a:spLocks noGrp="1"/>
          </p:cNvSpPr>
          <p:nvPr/>
        </p:nvSpPr>
        <p:spPr>
          <a:xfrm>
            <a:off x="711200" y="482600"/>
            <a:ext cx="10769600" cy="127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-label"/>
          <p:cNvSpPr>
            <a:spLocks noGrp="1"/>
          </p:cNvSpPr>
          <p:nvPr/>
        </p:nvSpPr>
        <p:spPr>
          <a:xfrm>
            <a:off x="711200" y="2159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00" b="1" spc="120">
                <a:ln>
                  <a:noFill/>
                </a:ln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02 PROBLEM</a:t>
            </a:r>
            <a:endParaRPr sz="1200" b="1" spc="120">
              <a:ln>
                <a:noFill/>
              </a:ln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" name="page-no"/>
          <p:cNvSpPr>
            <a:spLocks noGrp="1"/>
          </p:cNvSpPr>
          <p:nvPr/>
        </p:nvSpPr>
        <p:spPr>
          <a:xfrm>
            <a:off x="11049000" y="215900"/>
            <a:ext cx="431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0</a:t>
            </a:r>
            <a:r>
              <a:rPr lang="en-US"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6</a:t>
            </a:r>
            <a:endParaRPr lang="en-US" sz="10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711200" y="736600"/>
            <a:ext cx="107696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2800" b="1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Background: </a:t>
            </a:r>
            <a:r>
              <a:rPr sz="2800" b="1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Group trips fail not on information, but on coordination</a:t>
            </a:r>
            <a:endParaRPr sz="2800"/>
          </a:p>
        </p:txBody>
      </p:sp>
      <p:sp>
        <p:nvSpPr>
          <p:cNvPr id="6" name="quote-bar"/>
          <p:cNvSpPr>
            <a:spLocks noGrp="1"/>
          </p:cNvSpPr>
          <p:nvPr/>
        </p:nvSpPr>
        <p:spPr>
          <a:xfrm>
            <a:off x="711200" y="1565910"/>
            <a:ext cx="63500" cy="1092200"/>
          </a:xfrm>
          <a:prstGeom prst="rect">
            <a:avLst/>
          </a:prstGeom>
          <a:solidFill>
            <a:srgbClr val="B96A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user-quote"/>
          <p:cNvSpPr>
            <a:spLocks noGrp="1"/>
          </p:cNvSpPr>
          <p:nvPr/>
        </p:nvSpPr>
        <p:spPr>
          <a:xfrm>
            <a:off x="990600" y="1493520"/>
            <a:ext cx="6858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900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“Four friends, 3 days in Shanghai in October — different budgets and rhythms, one shared itinerary to agree on and split costs for.”</a:t>
            </a:r>
            <a:endParaRPr sz="1900"/>
          </a:p>
        </p:txBody>
      </p:sp>
      <p:sp>
        <p:nvSpPr>
          <p:cNvPr id="8" name="quote-caption"/>
          <p:cNvSpPr>
            <a:spLocks noGrp="1"/>
          </p:cNvSpPr>
          <p:nvPr/>
        </p:nvSpPr>
        <p:spPr>
          <a:xfrm>
            <a:off x="990600" y="280035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sz="9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Typical input: a shared travel request plus pasted guide text</a:t>
            </a:r>
            <a:endParaRPr sz="900"/>
          </a:p>
        </p:txBody>
      </p:sp>
      <p:sp>
        <p:nvSpPr>
          <p:cNvPr id="9" name="goal-label"/>
          <p:cNvSpPr>
            <a:spLocks noGrp="1"/>
          </p:cNvSpPr>
          <p:nvPr/>
        </p:nvSpPr>
        <p:spPr>
          <a:xfrm>
            <a:off x="8522335" y="149225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100" b="1" spc="10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TARGET USERS</a:t>
            </a:r>
            <a:endParaRPr sz="1100"/>
          </a:p>
        </p:txBody>
      </p:sp>
      <p:sp>
        <p:nvSpPr>
          <p:cNvPr id="10" name="goal-text"/>
          <p:cNvSpPr>
            <a:spLocks noGrp="1"/>
          </p:cNvSpPr>
          <p:nvPr/>
        </p:nvSpPr>
        <p:spPr>
          <a:xfrm>
            <a:off x="8522335" y="1854200"/>
            <a:ext cx="2958465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30000"/>
              </a:lnSpc>
              <a:buNone/>
            </a:pPr>
            <a:r>
              <a:rPr sz="1400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Small groups of 2–6 friends who decide and settle costs together</a:t>
            </a:r>
            <a:r>
              <a:rPr lang="en-US" sz="1400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, </a:t>
            </a:r>
            <a:r>
              <a:rPr lang="en-US" altLang="zh-CN" sz="1400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planning a domestic single-city trip</a:t>
            </a:r>
            <a:endParaRPr lang="en-US" altLang="zh-CN" sz="1400">
              <a:solidFill>
                <a:srgbClr val="263238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11" name="main-rule"/>
          <p:cNvSpPr>
            <a:spLocks noGrp="1"/>
          </p:cNvSpPr>
          <p:nvPr/>
        </p:nvSpPr>
        <p:spPr>
          <a:xfrm>
            <a:off x="711200" y="3105150"/>
            <a:ext cx="10769600" cy="127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ain-title"/>
          <p:cNvSpPr>
            <a:spLocks noGrp="1"/>
          </p:cNvSpPr>
          <p:nvPr/>
        </p:nvSpPr>
        <p:spPr>
          <a:xfrm>
            <a:off x="711200" y="340995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60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Three coordination </a:t>
            </a:r>
            <a:r>
              <a:rPr lang="en-US" sz="160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pain</a:t>
            </a:r>
            <a:r>
              <a:rPr sz="160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points</a:t>
            </a:r>
            <a:endParaRPr sz="1600" b="1"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3" name="pain-1-no"/>
          <p:cNvSpPr>
            <a:spLocks noGrp="1"/>
          </p:cNvSpPr>
          <p:nvPr/>
        </p:nvSpPr>
        <p:spPr>
          <a:xfrm>
            <a:off x="711200" y="3968750"/>
            <a:ext cx="533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800" b="1">
                <a:solidFill>
                  <a:srgbClr val="B96A4B"/>
                </a:solidFill>
                <a:latin typeface="思源宋体"/>
                <a:ea typeface="思源宋体"/>
                <a:cs typeface="思源宋体"/>
              </a:rPr>
              <a:t>01</a:t>
            </a:r>
            <a:endParaRPr sz="2800" b="1">
              <a:solidFill>
                <a:srgbClr val="B96A4B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14" name="pain-1-title"/>
          <p:cNvSpPr>
            <a:spLocks noGrp="1"/>
          </p:cNvSpPr>
          <p:nvPr/>
        </p:nvSpPr>
        <p:spPr>
          <a:xfrm>
            <a:off x="1422400" y="393065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Negotiating is messy</a:t>
            </a:r>
            <a:endParaRPr b="1"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5" name="pain-1-body"/>
          <p:cNvSpPr>
            <a:spLocks noGrp="1"/>
          </p:cNvSpPr>
          <p:nvPr/>
        </p:nvSpPr>
        <p:spPr>
          <a:xfrm>
            <a:off x="1422400" y="4286250"/>
            <a:ext cx="2571115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4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Preferences clash across members; chat threads scatter decisions and no single itinerary reflects the consensus.</a:t>
            </a:r>
            <a:endParaRPr sz="14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6" name="split-1"/>
          <p:cNvSpPr>
            <a:spLocks noGrp="1"/>
          </p:cNvSpPr>
          <p:nvPr/>
        </p:nvSpPr>
        <p:spPr>
          <a:xfrm>
            <a:off x="4230370" y="3841750"/>
            <a:ext cx="12700" cy="14224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>
            <a:endParaRPr sz="2000"/>
          </a:p>
        </p:txBody>
      </p:sp>
      <p:sp>
        <p:nvSpPr>
          <p:cNvPr id="17" name="pain-2-no"/>
          <p:cNvSpPr>
            <a:spLocks noGrp="1"/>
          </p:cNvSpPr>
          <p:nvPr/>
        </p:nvSpPr>
        <p:spPr>
          <a:xfrm>
            <a:off x="4580890" y="3968750"/>
            <a:ext cx="533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800" b="1">
                <a:solidFill>
                  <a:srgbClr val="B96A4B"/>
                </a:solidFill>
                <a:latin typeface="思源宋体"/>
                <a:ea typeface="思源宋体"/>
                <a:cs typeface="思源宋体"/>
              </a:rPr>
              <a:t>02</a:t>
            </a:r>
            <a:endParaRPr sz="2800" b="1">
              <a:solidFill>
                <a:srgbClr val="B96A4B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18" name="pain-2-title"/>
          <p:cNvSpPr>
            <a:spLocks noGrp="1"/>
          </p:cNvSpPr>
          <p:nvPr/>
        </p:nvSpPr>
        <p:spPr>
          <a:xfrm>
            <a:off x="5292090" y="3930650"/>
            <a:ext cx="2590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Mid-trip changes hurt</a:t>
            </a:r>
            <a:endParaRPr b="1"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9" name="pain-2-body"/>
          <p:cNvSpPr>
            <a:spLocks noGrp="1"/>
          </p:cNvSpPr>
          <p:nvPr/>
        </p:nvSpPr>
        <p:spPr>
          <a:xfrm>
            <a:off x="5292090" y="4286250"/>
            <a:ext cx="25908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4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Rain, closures, or a tired member force local re-planning on the road; the whole plan is rebuilt by hand.</a:t>
            </a:r>
            <a:endParaRPr sz="14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0" name="split-2"/>
          <p:cNvSpPr>
            <a:spLocks noGrp="1"/>
          </p:cNvSpPr>
          <p:nvPr/>
        </p:nvSpPr>
        <p:spPr>
          <a:xfrm>
            <a:off x="8185150" y="3841750"/>
            <a:ext cx="12700" cy="14224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>
            <a:endParaRPr sz="2000"/>
          </a:p>
        </p:txBody>
      </p:sp>
      <p:sp>
        <p:nvSpPr>
          <p:cNvPr id="21" name="pain-3-no"/>
          <p:cNvSpPr>
            <a:spLocks noGrp="1"/>
          </p:cNvSpPr>
          <p:nvPr/>
        </p:nvSpPr>
        <p:spPr>
          <a:xfrm>
            <a:off x="8498205" y="3968750"/>
            <a:ext cx="533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800" b="1">
                <a:solidFill>
                  <a:srgbClr val="B96A4B"/>
                </a:solidFill>
                <a:latin typeface="思源宋体"/>
                <a:ea typeface="思源宋体"/>
                <a:cs typeface="思源宋体"/>
              </a:rPr>
              <a:t>03</a:t>
            </a:r>
            <a:endParaRPr sz="2800" b="1">
              <a:solidFill>
                <a:srgbClr val="B96A4B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22" name="pain-3-title"/>
          <p:cNvSpPr>
            <a:spLocks noGrp="1"/>
          </p:cNvSpPr>
          <p:nvPr/>
        </p:nvSpPr>
        <p:spPr>
          <a:xfrm>
            <a:off x="9181465" y="3926205"/>
            <a:ext cx="2570480" cy="431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Cost splitting is manual</a:t>
            </a:r>
            <a:endParaRPr b="1"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3" name="pain-3-body"/>
          <p:cNvSpPr>
            <a:spLocks noGrp="1"/>
          </p:cNvSpPr>
          <p:nvPr/>
        </p:nvSpPr>
        <p:spPr>
          <a:xfrm>
            <a:off x="9181465" y="4308475"/>
            <a:ext cx="218249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4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Shared expenses live in notes and chats; settling up later is error-prone.</a:t>
            </a:r>
            <a:endParaRPr sz="14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4" name="response-rule"/>
          <p:cNvSpPr>
            <a:spLocks noGrp="1"/>
          </p:cNvSpPr>
          <p:nvPr/>
        </p:nvSpPr>
        <p:spPr>
          <a:xfrm>
            <a:off x="711200" y="5803900"/>
            <a:ext cx="10769600" cy="127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footer"/>
          <p:cNvSpPr>
            <a:spLocks noGrp="1"/>
          </p:cNvSpPr>
          <p:nvPr/>
        </p:nvSpPr>
        <p:spPr>
          <a:xfrm>
            <a:off x="711200" y="6477000"/>
            <a:ext cx="787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sz="9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Source: proposal-stage background analysis</a:t>
            </a:r>
            <a:endParaRPr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-rule"/>
          <p:cNvSpPr>
            <a:spLocks noGrp="1"/>
          </p:cNvSpPr>
          <p:nvPr/>
        </p:nvSpPr>
        <p:spPr>
          <a:xfrm>
            <a:off x="711200" y="482600"/>
            <a:ext cx="10769600" cy="127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-label"/>
          <p:cNvSpPr>
            <a:spLocks noGrp="1"/>
          </p:cNvSpPr>
          <p:nvPr/>
        </p:nvSpPr>
        <p:spPr>
          <a:xfrm>
            <a:off x="711200" y="2159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0</a:t>
            </a:r>
            <a:r>
              <a:rPr lang="en-US"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3</a:t>
            </a: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 · RELATED WORK</a:t>
            </a:r>
            <a:endParaRPr sz="1100"/>
          </a:p>
        </p:txBody>
      </p:sp>
      <p:sp>
        <p:nvSpPr>
          <p:cNvPr id="4" name="page-no"/>
          <p:cNvSpPr>
            <a:spLocks noGrp="1"/>
          </p:cNvSpPr>
          <p:nvPr/>
        </p:nvSpPr>
        <p:spPr>
          <a:xfrm>
            <a:off x="11049000" y="215900"/>
            <a:ext cx="431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0</a:t>
            </a:r>
            <a:r>
              <a:rPr lang="en-US"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7</a:t>
            </a:r>
            <a:endParaRPr lang="en-US" sz="10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711200" y="736600"/>
            <a:ext cx="107696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5000"/>
              </a:lnSpc>
              <a:buNone/>
            </a:pPr>
            <a:r>
              <a:rPr sz="2600" b="1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Related work: strong solo planners, weak group workflow</a:t>
            </a:r>
            <a:endParaRPr sz="2600"/>
          </a:p>
        </p:txBody>
      </p:sp>
      <p:graphicFrame>
        <p:nvGraphicFramePr>
          <p:cNvPr id="18" name="rw-table"/>
          <p:cNvGraphicFramePr/>
          <p:nvPr/>
        </p:nvGraphicFramePr>
        <p:xfrm>
          <a:off x="711200" y="1369060"/>
          <a:ext cx="10769600" cy="3124198"/>
        </p:xfrm>
        <a:graphic>
          <a:graphicData uri="http://schemas.openxmlformats.org/drawingml/2006/table">
            <a:tbl>
              <a:tblPr/>
              <a:tblGrid>
                <a:gridCol w="2584704"/>
                <a:gridCol w="4092448"/>
                <a:gridCol w="4092448"/>
              </a:tblGrid>
              <a:tr h="437388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300" b="1">
                          <a:solidFill>
                            <a:srgbClr val="355C52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Category</a:t>
                      </a:r>
                      <a:endParaRPr sz="1300" b="1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DCE3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300" b="1">
                          <a:solidFill>
                            <a:srgbClr val="355C52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What they do well</a:t>
                      </a:r>
                      <a:endParaRPr sz="1300" b="1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DCE3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300" b="1">
                          <a:solidFill>
                            <a:srgbClr val="355C52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What is missing</a:t>
                      </a:r>
                      <a:endParaRPr sz="1300" b="1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DCE3DC"/>
                    </a:solidFill>
                  </a:tcPr>
                </a:tc>
              </a:tr>
              <a:tr h="53736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300" b="1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Guide platforms (e.g. Xiaohongshu, Mafengwo)</a:t>
                      </a:r>
                      <a:endParaRPr sz="1300" b="1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3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Rich user-generated guides and inspiration</a:t>
                      </a:r>
                      <a:endParaRPr sz="13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3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Content only — no executable, editable itinerary</a:t>
                      </a:r>
                      <a:endParaRPr sz="13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</a:tr>
              <a:tr h="53736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300" b="1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Map / navigation apps (e.g. Amap, Google Maps)</a:t>
                      </a:r>
                      <a:endParaRPr sz="1300" b="1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3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Accurate POI, routes, and travel time</a:t>
                      </a:r>
                      <a:endParaRPr sz="13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3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Single-leg navigation; no multi-day plan or group state</a:t>
                      </a:r>
                      <a:endParaRPr sz="13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</a:tr>
              <a:tr h="53736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300" b="1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Itinerary planners (e.g. Wanderlog, TripIt)</a:t>
                      </a:r>
                      <a:endParaRPr sz="1300" b="1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3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Structured trips; some offer shared viewing</a:t>
                      </a:r>
                      <a:endParaRPr sz="13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3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Weak real-time co-editing &amp; conflict handling; no verified facts; no AA ledger</a:t>
                      </a:r>
                      <a:endParaRPr sz="13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</a:tr>
              <a:tr h="53736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300" b="1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LLM chat assistants (e.g. ChatGPT, Doubao)</a:t>
                      </a:r>
                      <a:endParaRPr sz="1300" b="1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3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Fluent plan drafting from natural language</a:t>
                      </a:r>
                      <a:endParaRPr sz="13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3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Unverified facts, no persistent shared state, no mid-trip re-planning or expense tracking</a:t>
                      </a:r>
                      <a:endParaRPr sz="13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</a:tr>
              <a:tr h="53736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300" b="1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Expense-splitting apps (e.g. Splitwise)</a:t>
                      </a:r>
                      <a:endParaRPr sz="1300" b="1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3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Mature AA bookkeeping and settlement</a:t>
                      </a:r>
                      <a:endParaRPr sz="13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3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Detached from the itinerary — costs lose trip context</a:t>
                      </a:r>
                      <a:endParaRPr sz="13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gap-rule"/>
          <p:cNvSpPr>
            <a:spLocks noGrp="1"/>
          </p:cNvSpPr>
          <p:nvPr/>
        </p:nvSpPr>
        <p:spPr>
          <a:xfrm>
            <a:off x="711200" y="5029200"/>
            <a:ext cx="6705600" cy="25400"/>
          </a:xfrm>
          <a:prstGeom prst="rect">
            <a:avLst/>
          </a:prstGeom>
          <a:solidFill>
            <a:srgbClr val="B96A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gap-title"/>
          <p:cNvSpPr>
            <a:spLocks noGrp="1"/>
          </p:cNvSpPr>
          <p:nvPr/>
        </p:nvSpPr>
        <p:spPr>
          <a:xfrm>
            <a:off x="711200" y="5158105"/>
            <a:ext cx="3810000" cy="3790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200" b="1" kern="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The gap this project fills</a:t>
            </a:r>
            <a:endParaRPr sz="2200" b="1" kern="0">
              <a:solidFill>
                <a:srgbClr val="355C52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9" name="gap-list"/>
          <p:cNvSpPr>
            <a:spLocks noGrp="1"/>
          </p:cNvSpPr>
          <p:nvPr/>
        </p:nvSpPr>
        <p:spPr>
          <a:xfrm>
            <a:off x="711200" y="5613400"/>
            <a:ext cx="6756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2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01</a:t>
            </a:r>
            <a:r>
              <a:rPr sz="12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Multi-user collaboration on one verified itinerary</a:t>
            </a:r>
            <a:endParaRPr sz="1200"/>
          </a:p>
          <a:p>
            <a:pPr>
              <a:lnSpc>
                <a:spcPct val="140000"/>
              </a:lnSpc>
              <a:buNone/>
            </a:pPr>
            <a:r>
              <a:rPr sz="12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02</a:t>
            </a:r>
            <a:r>
              <a:rPr sz="12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Mid-trip local re-planning with hard-constraint checks</a:t>
            </a:r>
            <a:endParaRPr sz="1200"/>
          </a:p>
          <a:p>
            <a:pPr>
              <a:lnSpc>
                <a:spcPct val="140000"/>
              </a:lnSpc>
              <a:buNone/>
            </a:pPr>
            <a:r>
              <a:rPr sz="12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03</a:t>
            </a:r>
            <a:r>
              <a:rPr sz="12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Custom AA ledger bound to itinerary items</a:t>
            </a:r>
            <a:endParaRPr sz="1200"/>
          </a:p>
        </p:txBody>
      </p:sp>
      <p:sp>
        <p:nvSpPr>
          <p:cNvPr id="10" name="right-divider"/>
          <p:cNvSpPr>
            <a:spLocks noGrp="1"/>
          </p:cNvSpPr>
          <p:nvPr/>
        </p:nvSpPr>
        <p:spPr>
          <a:xfrm>
            <a:off x="8026400" y="5029200"/>
            <a:ext cx="12700" cy="13208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gap-note"/>
          <p:cNvSpPr>
            <a:spLocks noGrp="1"/>
          </p:cNvSpPr>
          <p:nvPr/>
        </p:nvSpPr>
        <p:spPr>
          <a:xfrm>
            <a:off x="8483600" y="5232400"/>
            <a:ext cx="29972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400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No mainstream tool combines all three for small travel groups.</a:t>
            </a:r>
            <a:endParaRPr sz="1400"/>
          </a:p>
        </p:txBody>
      </p:sp>
      <p:sp>
        <p:nvSpPr>
          <p:cNvPr id="12" name="footer"/>
          <p:cNvSpPr>
            <a:spLocks noGrp="1"/>
          </p:cNvSpPr>
          <p:nvPr/>
        </p:nvSpPr>
        <p:spPr>
          <a:xfrm>
            <a:off x="711200" y="64770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sz="9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Related work: category-level feature comparison as of proposal stage, Oct 2026; products named as category examples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-rule"/>
          <p:cNvSpPr>
            <a:spLocks noGrp="1"/>
          </p:cNvSpPr>
          <p:nvPr/>
        </p:nvSpPr>
        <p:spPr>
          <a:xfrm>
            <a:off x="711200" y="482600"/>
            <a:ext cx="10769600" cy="127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-label"/>
          <p:cNvSpPr>
            <a:spLocks noGrp="1"/>
          </p:cNvSpPr>
          <p:nvPr/>
        </p:nvSpPr>
        <p:spPr>
          <a:xfrm>
            <a:off x="711200" y="2159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0</a:t>
            </a:r>
            <a:r>
              <a:rPr lang="en-US"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4</a:t>
            </a: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 </a:t>
            </a:r>
            <a:r>
              <a:rPr lang="en-US"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Core Scope-</a:t>
            </a: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 USER STORIES</a:t>
            </a:r>
            <a:endParaRPr sz="1100"/>
          </a:p>
        </p:txBody>
      </p:sp>
      <p:sp>
        <p:nvSpPr>
          <p:cNvPr id="4" name="page-no"/>
          <p:cNvSpPr>
            <a:spLocks noGrp="1"/>
          </p:cNvSpPr>
          <p:nvPr/>
        </p:nvSpPr>
        <p:spPr>
          <a:xfrm>
            <a:off x="11049000" y="215900"/>
            <a:ext cx="431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0</a:t>
            </a:r>
            <a:r>
              <a:rPr lang="en-US"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8</a:t>
            </a:r>
            <a:endParaRPr lang="en-US" sz="10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711200" y="736600"/>
            <a:ext cx="107696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5000"/>
              </a:lnSpc>
              <a:buNone/>
            </a:pPr>
            <a:r>
              <a:rPr sz="2900" b="1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Three user stories</a:t>
            </a:r>
            <a:r>
              <a:rPr lang="en-US" sz="2900" b="1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:</a:t>
            </a:r>
            <a:endParaRPr lang="en-US" sz="2900" b="1">
              <a:solidFill>
                <a:srgbClr val="263238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6" name="s1-tag"/>
          <p:cNvSpPr>
            <a:spLocks noGrp="1"/>
          </p:cNvSpPr>
          <p:nvPr/>
        </p:nvSpPr>
        <p:spPr>
          <a:xfrm>
            <a:off x="711200" y="1676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100" b="1" spc="100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STORY 01</a:t>
            </a:r>
            <a:endParaRPr sz="1100"/>
          </a:p>
        </p:txBody>
      </p:sp>
      <p:sp>
        <p:nvSpPr>
          <p:cNvPr id="7" name="s1-title"/>
          <p:cNvSpPr>
            <a:spLocks noGrp="1"/>
          </p:cNvSpPr>
          <p:nvPr/>
        </p:nvSpPr>
        <p:spPr>
          <a:xfrm>
            <a:off x="711200" y="19558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sz="16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Collaborative editing &amp; conflict handling</a:t>
            </a:r>
            <a:endParaRPr sz="1600"/>
          </a:p>
        </p:txBody>
      </p:sp>
      <p:sp>
        <p:nvSpPr>
          <p:cNvPr id="8" name="s1-body"/>
          <p:cNvSpPr>
            <a:spLocks noGrp="1"/>
          </p:cNvSpPr>
          <p:nvPr/>
        </p:nvSpPr>
        <p:spPr>
          <a:xfrm>
            <a:off x="4191000" y="1727200"/>
            <a:ext cx="7289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400" b="1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As a</a:t>
            </a:r>
            <a:r>
              <a:rPr sz="14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 trip organizer, </a:t>
            </a:r>
            <a:r>
              <a:rPr sz="1400" b="1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I want</a:t>
            </a:r>
            <a:r>
              <a:rPr sz="14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 to invite members into one shared itinerary where edits are attributed and conflicting changes are surfaced, </a:t>
            </a:r>
            <a:r>
              <a:rPr sz="1400" b="1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so that</a:t>
            </a:r>
            <a:r>
              <a:rPr sz="14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 the group negotiates on a single source of truth instead of scattered chat messages.</a:t>
            </a:r>
            <a:endParaRPr sz="14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9" name="sep-1"/>
          <p:cNvSpPr>
            <a:spLocks noGrp="1"/>
          </p:cNvSpPr>
          <p:nvPr/>
        </p:nvSpPr>
        <p:spPr>
          <a:xfrm>
            <a:off x="711200" y="2870200"/>
            <a:ext cx="10769600" cy="127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2-tag"/>
          <p:cNvSpPr>
            <a:spLocks noGrp="1"/>
          </p:cNvSpPr>
          <p:nvPr/>
        </p:nvSpPr>
        <p:spPr>
          <a:xfrm>
            <a:off x="711200" y="3175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100" b="1" spc="100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STORY 02</a:t>
            </a:r>
            <a:endParaRPr sz="1100"/>
          </a:p>
        </p:txBody>
      </p:sp>
      <p:sp>
        <p:nvSpPr>
          <p:cNvPr id="11" name="s2-title"/>
          <p:cNvSpPr>
            <a:spLocks noGrp="1"/>
          </p:cNvSpPr>
          <p:nvPr/>
        </p:nvSpPr>
        <p:spPr>
          <a:xfrm>
            <a:off x="711200" y="34544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sz="16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Local re-planning during the trip</a:t>
            </a:r>
            <a:endParaRPr sz="1600"/>
          </a:p>
        </p:txBody>
      </p:sp>
      <p:sp>
        <p:nvSpPr>
          <p:cNvPr id="12" name="s2-body"/>
          <p:cNvSpPr>
            <a:spLocks noGrp="1"/>
          </p:cNvSpPr>
          <p:nvPr/>
        </p:nvSpPr>
        <p:spPr>
          <a:xfrm>
            <a:off x="4191000" y="3225800"/>
            <a:ext cx="7289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400" b="1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As a</a:t>
            </a:r>
            <a:r>
              <a:rPr sz="14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 traveler on the road, </a:t>
            </a:r>
            <a:r>
              <a:rPr sz="1400" b="1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I want</a:t>
            </a:r>
            <a:r>
              <a:rPr sz="14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 to swap or drop activities for one half-day when rain or closures hit, with time, budget, and route re-checked automatically, </a:t>
            </a:r>
            <a:r>
              <a:rPr sz="1400" b="1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so that</a:t>
            </a:r>
            <a:r>
              <a:rPr sz="14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 the rest of the itinerary stays intact and navigable.</a:t>
            </a:r>
            <a:endParaRPr sz="14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3" name="sep-2"/>
          <p:cNvSpPr>
            <a:spLocks noGrp="1"/>
          </p:cNvSpPr>
          <p:nvPr/>
        </p:nvSpPr>
        <p:spPr>
          <a:xfrm>
            <a:off x="711200" y="4368800"/>
            <a:ext cx="10769600" cy="127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3-tag"/>
          <p:cNvSpPr>
            <a:spLocks noGrp="1"/>
          </p:cNvSpPr>
          <p:nvPr/>
        </p:nvSpPr>
        <p:spPr>
          <a:xfrm>
            <a:off x="711200" y="46736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100" b="1" spc="100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STORY 03</a:t>
            </a:r>
            <a:endParaRPr sz="1100"/>
          </a:p>
        </p:txBody>
      </p:sp>
      <p:sp>
        <p:nvSpPr>
          <p:cNvPr id="15" name="s3-title"/>
          <p:cNvSpPr>
            <a:spLocks noGrp="1"/>
          </p:cNvSpPr>
          <p:nvPr/>
        </p:nvSpPr>
        <p:spPr>
          <a:xfrm>
            <a:off x="711200" y="49530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sz="16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Custom AA expense ledger</a:t>
            </a:r>
            <a:endParaRPr sz="1600"/>
          </a:p>
        </p:txBody>
      </p:sp>
      <p:sp>
        <p:nvSpPr>
          <p:cNvPr id="16" name="s3-body"/>
          <p:cNvSpPr>
            <a:spLocks noGrp="1"/>
          </p:cNvSpPr>
          <p:nvPr/>
        </p:nvSpPr>
        <p:spPr>
          <a:xfrm>
            <a:off x="4191000" y="4724400"/>
            <a:ext cx="7289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400" b="1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As a</a:t>
            </a:r>
            <a:r>
              <a:rPr sz="14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 group member, </a:t>
            </a:r>
            <a:r>
              <a:rPr sz="1400" b="1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I want</a:t>
            </a:r>
            <a:r>
              <a:rPr sz="14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 shared expenses recorded per activity with flexible splits (equal, by ratio, or by item), </a:t>
            </a:r>
            <a:r>
              <a:rPr sz="1400" b="1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so that</a:t>
            </a:r>
            <a:r>
              <a:rPr sz="14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 settling up after the trip takes minutes, not a night of bookkeeping.</a:t>
            </a:r>
            <a:endParaRPr sz="14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7" name="sep-3"/>
          <p:cNvSpPr>
            <a:spLocks noGrp="1"/>
          </p:cNvSpPr>
          <p:nvPr/>
        </p:nvSpPr>
        <p:spPr>
          <a:xfrm>
            <a:off x="711200" y="5867400"/>
            <a:ext cx="10769600" cy="127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flow-note"/>
          <p:cNvSpPr>
            <a:spLocks noGrp="1"/>
          </p:cNvSpPr>
          <p:nvPr/>
        </p:nvSpPr>
        <p:spPr>
          <a:xfrm>
            <a:off x="711200" y="60706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20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One main business flow ties them together — shown on the next page.</a:t>
            </a:r>
            <a:endParaRPr sz="1200"/>
          </a:p>
        </p:txBody>
      </p:sp>
      <p:sp>
        <p:nvSpPr>
          <p:cNvPr id="19" name="footer"/>
          <p:cNvSpPr>
            <a:spLocks noGrp="1"/>
          </p:cNvSpPr>
          <p:nvPr/>
        </p:nvSpPr>
        <p:spPr>
          <a:xfrm>
            <a:off x="711200" y="64770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sz="9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User stories: proposal-stage definition, 3 core stories + 1 main flow per the proposal brief</a:t>
            </a:r>
            <a:endParaRPr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-rule"/>
          <p:cNvSpPr>
            <a:spLocks noGrp="1"/>
          </p:cNvSpPr>
          <p:nvPr/>
        </p:nvSpPr>
        <p:spPr>
          <a:xfrm>
            <a:off x="711200" y="482600"/>
            <a:ext cx="10769600" cy="127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-label"/>
          <p:cNvSpPr>
            <a:spLocks noGrp="1"/>
          </p:cNvSpPr>
          <p:nvPr/>
        </p:nvSpPr>
        <p:spPr>
          <a:xfrm>
            <a:off x="711200" y="2159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  <a:sym typeface="+mn-ea"/>
              </a:rPr>
              <a:t>0</a:t>
            </a:r>
            <a:r>
              <a:rPr lang="en-US"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  <a:sym typeface="+mn-ea"/>
              </a:rPr>
              <a:t>4</a:t>
            </a: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  <a:sym typeface="+mn-ea"/>
              </a:rPr>
              <a:t> </a:t>
            </a:r>
            <a:r>
              <a:rPr lang="en-US"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  <a:sym typeface="+mn-ea"/>
              </a:rPr>
              <a:t>Core Scope- Main Workflow</a:t>
            </a:r>
            <a:endParaRPr sz="1100"/>
          </a:p>
        </p:txBody>
      </p:sp>
      <p:sp>
        <p:nvSpPr>
          <p:cNvPr id="4" name="page-no"/>
          <p:cNvSpPr>
            <a:spLocks noGrp="1"/>
          </p:cNvSpPr>
          <p:nvPr/>
        </p:nvSpPr>
        <p:spPr>
          <a:xfrm>
            <a:off x="11049000" y="215900"/>
            <a:ext cx="431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0</a:t>
            </a:r>
            <a:r>
              <a:rPr lang="en-US"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9</a:t>
            </a:r>
            <a:endParaRPr lang="en-US" sz="10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711200" y="736600"/>
            <a:ext cx="107696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2600" b="1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Main Workflow</a:t>
            </a:r>
            <a:endParaRPr lang="en-US" sz="2600" b="1">
              <a:solidFill>
                <a:srgbClr val="263238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6" name="flow-line"/>
          <p:cNvSpPr>
            <a:spLocks noGrp="1"/>
          </p:cNvSpPr>
          <p:nvPr/>
        </p:nvSpPr>
        <p:spPr>
          <a:xfrm>
            <a:off x="1041400" y="1784350"/>
            <a:ext cx="10109200" cy="25400"/>
          </a:xfrm>
          <a:prstGeom prst="rect">
            <a:avLst/>
          </a:prstGeom>
          <a:solidFill>
            <a:srgbClr val="355C5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low-node-1"/>
          <p:cNvSpPr>
            <a:spLocks noGrp="1"/>
          </p:cNvSpPr>
          <p:nvPr/>
        </p:nvSpPr>
        <p:spPr>
          <a:xfrm>
            <a:off x="889000" y="1644650"/>
            <a:ext cx="304800" cy="304800"/>
          </a:xfrm>
          <a:prstGeom prst="ellipse">
            <a:avLst/>
          </a:prstGeom>
          <a:solidFill>
            <a:srgbClr val="B96A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low-node-2"/>
          <p:cNvSpPr>
            <a:spLocks noGrp="1"/>
          </p:cNvSpPr>
          <p:nvPr/>
        </p:nvSpPr>
        <p:spPr>
          <a:xfrm>
            <a:off x="2921000" y="1670050"/>
            <a:ext cx="254000" cy="254000"/>
          </a:xfrm>
          <a:prstGeom prst="ellipse">
            <a:avLst/>
          </a:prstGeom>
          <a:solidFill>
            <a:srgbClr val="FFFDF8"/>
          </a:solidFill>
          <a:ln w="38100">
            <a:solidFill>
              <a:srgbClr val="355C52"/>
            </a:solidFill>
          </a:ln>
        </p:spPr>
        <p:txBody>
          <a:bodyPr/>
          <a:lstStyle/>
          <a:p/>
        </p:txBody>
      </p:sp>
      <p:sp>
        <p:nvSpPr>
          <p:cNvPr id="9" name="flow-node-3"/>
          <p:cNvSpPr>
            <a:spLocks noGrp="1"/>
          </p:cNvSpPr>
          <p:nvPr/>
        </p:nvSpPr>
        <p:spPr>
          <a:xfrm>
            <a:off x="4953000" y="1670050"/>
            <a:ext cx="254000" cy="254000"/>
          </a:xfrm>
          <a:prstGeom prst="ellipse">
            <a:avLst/>
          </a:prstGeom>
          <a:solidFill>
            <a:srgbClr val="FFFDF8"/>
          </a:solidFill>
          <a:ln w="38100">
            <a:solidFill>
              <a:srgbClr val="355C52"/>
            </a:solidFill>
          </a:ln>
        </p:spPr>
        <p:txBody>
          <a:bodyPr/>
          <a:lstStyle/>
          <a:p/>
        </p:txBody>
      </p:sp>
      <p:sp>
        <p:nvSpPr>
          <p:cNvPr id="10" name="flow-node-4"/>
          <p:cNvSpPr>
            <a:spLocks noGrp="1"/>
          </p:cNvSpPr>
          <p:nvPr/>
        </p:nvSpPr>
        <p:spPr>
          <a:xfrm>
            <a:off x="6985000" y="1670050"/>
            <a:ext cx="254000" cy="254000"/>
          </a:xfrm>
          <a:prstGeom prst="ellipse">
            <a:avLst/>
          </a:prstGeom>
          <a:solidFill>
            <a:srgbClr val="FFFDF8"/>
          </a:solidFill>
          <a:ln w="38100">
            <a:solidFill>
              <a:srgbClr val="355C52"/>
            </a:solidFill>
          </a:ln>
        </p:spPr>
        <p:txBody>
          <a:bodyPr/>
          <a:lstStyle/>
          <a:p/>
        </p:txBody>
      </p:sp>
      <p:sp>
        <p:nvSpPr>
          <p:cNvPr id="11" name="flow-node-5"/>
          <p:cNvSpPr>
            <a:spLocks noGrp="1"/>
          </p:cNvSpPr>
          <p:nvPr/>
        </p:nvSpPr>
        <p:spPr>
          <a:xfrm>
            <a:off x="9017000" y="1670050"/>
            <a:ext cx="254000" cy="254000"/>
          </a:xfrm>
          <a:prstGeom prst="ellipse">
            <a:avLst/>
          </a:prstGeom>
          <a:solidFill>
            <a:srgbClr val="FFFDF8"/>
          </a:solidFill>
          <a:ln w="38100">
            <a:solidFill>
              <a:srgbClr val="355C52"/>
            </a:solidFill>
          </a:ln>
        </p:spPr>
        <p:txBody>
          <a:bodyPr/>
          <a:lstStyle/>
          <a:p/>
        </p:txBody>
      </p:sp>
      <p:sp>
        <p:nvSpPr>
          <p:cNvPr id="12" name="flow-node-6"/>
          <p:cNvSpPr>
            <a:spLocks noGrp="1"/>
          </p:cNvSpPr>
          <p:nvPr/>
        </p:nvSpPr>
        <p:spPr>
          <a:xfrm>
            <a:off x="10998200" y="1644650"/>
            <a:ext cx="304800" cy="304800"/>
          </a:xfrm>
          <a:prstGeom prst="ellipse">
            <a:avLst/>
          </a:prstGeom>
          <a:solidFill>
            <a:srgbClr val="355C5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flow-label-1"/>
          <p:cNvSpPr>
            <a:spLocks noGrp="1"/>
          </p:cNvSpPr>
          <p:nvPr/>
        </p:nvSpPr>
        <p:spPr>
          <a:xfrm>
            <a:off x="152400" y="208915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ClrTx/>
              <a:buSzTx/>
              <a:buFontTx/>
              <a:buNone/>
            </a:pP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State needs</a:t>
            </a:r>
            <a:endParaRPr sz="1200" b="1"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4" name="flow-sub-1"/>
          <p:cNvSpPr>
            <a:spLocks noGrp="1"/>
          </p:cNvSpPr>
          <p:nvPr/>
        </p:nvSpPr>
        <p:spPr>
          <a:xfrm>
            <a:off x="152400" y="239395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buNone/>
            </a:pPr>
            <a:r>
              <a:rPr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Destination / dates / budget / preferences</a:t>
            </a:r>
            <a:endParaRPr sz="1000"/>
          </a:p>
        </p:txBody>
      </p:sp>
      <p:sp>
        <p:nvSpPr>
          <p:cNvPr id="15" name="flow-label-2"/>
          <p:cNvSpPr>
            <a:spLocks noGrp="1"/>
          </p:cNvSpPr>
          <p:nvPr/>
        </p:nvSpPr>
        <p:spPr>
          <a:xfrm>
            <a:off x="2159000" y="208915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AI drafts</a:t>
            </a:r>
            <a:endParaRPr lang="en-US" altLang="zh-CN" sz="1200"/>
          </a:p>
        </p:txBody>
      </p:sp>
      <p:sp>
        <p:nvSpPr>
          <p:cNvPr id="16" name="flow-sub-2"/>
          <p:cNvSpPr>
            <a:spLocks noGrp="1"/>
          </p:cNvSpPr>
          <p:nvPr/>
        </p:nvSpPr>
        <p:spPr>
          <a:xfrm>
            <a:off x="2159000" y="239395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buClrTx/>
              <a:buSzTx/>
              <a:buFontTx/>
              <a:buNone/>
            </a:pPr>
            <a:r>
              <a:rPr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Structured itinerary with verified facts and labeled estimates</a:t>
            </a:r>
            <a:endParaRPr sz="10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7" name="flow-label-3"/>
          <p:cNvSpPr>
            <a:spLocks noGrp="1"/>
          </p:cNvSpPr>
          <p:nvPr/>
        </p:nvSpPr>
        <p:spPr>
          <a:xfrm>
            <a:off x="4191000" y="208915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Map view</a:t>
            </a:r>
            <a:endParaRPr lang="en-US" altLang="zh-CN" sz="1200"/>
          </a:p>
        </p:txBody>
      </p:sp>
      <p:sp>
        <p:nvSpPr>
          <p:cNvPr id="18" name="flow-sub-3"/>
          <p:cNvSpPr>
            <a:spLocks noGrp="1"/>
          </p:cNvSpPr>
          <p:nvPr/>
        </p:nvSpPr>
        <p:spPr>
          <a:xfrm>
            <a:off x="4191000" y="239395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buClrTx/>
              <a:buSzTx/>
              <a:buFontTx/>
              <a:buNone/>
            </a:pPr>
            <a:r>
              <a:rPr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Points, routes, and weather on one canvas</a:t>
            </a:r>
            <a:endParaRPr sz="10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9" name="flow-label-4"/>
          <p:cNvSpPr>
            <a:spLocks noGrp="1"/>
          </p:cNvSpPr>
          <p:nvPr/>
        </p:nvSpPr>
        <p:spPr>
          <a:xfrm>
            <a:off x="6223000" y="208915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ClrTx/>
              <a:buSzTx/>
              <a:buFontTx/>
              <a:buNone/>
            </a:pP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Co-edit</a:t>
            </a:r>
            <a:endParaRPr sz="1200" b="1"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0" name="flow-sub-4"/>
          <p:cNvSpPr>
            <a:spLocks noGrp="1"/>
          </p:cNvSpPr>
          <p:nvPr/>
        </p:nvSpPr>
        <p:spPr>
          <a:xfrm>
            <a:off x="6223000" y="239395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buClrTx/>
              <a:buSzTx/>
              <a:buFontTx/>
              <a:buNone/>
            </a:pPr>
            <a:r>
              <a:rPr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Invite members, see attributed changes, resolve conflicts</a:t>
            </a:r>
            <a:endParaRPr sz="10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1" name="flow-label-5"/>
          <p:cNvSpPr>
            <a:spLocks noGrp="1"/>
          </p:cNvSpPr>
          <p:nvPr/>
        </p:nvSpPr>
        <p:spPr>
          <a:xfrm>
            <a:off x="8255000" y="208915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ClrTx/>
              <a:buSzTx/>
              <a:buFontTx/>
              <a:buNone/>
            </a:pP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Re-plan mid-trip</a:t>
            </a:r>
            <a:endParaRPr sz="1200" b="1"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2" name="flow-sub-5"/>
          <p:cNvSpPr>
            <a:spLocks noGrp="1"/>
          </p:cNvSpPr>
          <p:nvPr/>
        </p:nvSpPr>
        <p:spPr>
          <a:xfrm>
            <a:off x="8255000" y="239395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buClrTx/>
              <a:buSzTx/>
              <a:buFontTx/>
              <a:buNone/>
            </a:pPr>
            <a:r>
              <a:rPr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Swap or drop with auto time and budget re-check</a:t>
            </a:r>
            <a:endParaRPr sz="10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3" name="flow-label-6"/>
          <p:cNvSpPr>
            <a:spLocks noGrp="1"/>
          </p:cNvSpPr>
          <p:nvPr/>
        </p:nvSpPr>
        <p:spPr>
          <a:xfrm>
            <a:off x="10261600" y="208915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ClrTx/>
              <a:buSzTx/>
              <a:buFontTx/>
              <a:buNone/>
            </a:pP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Confirm &amp; go</a:t>
            </a:r>
            <a:endParaRPr sz="1200" b="1"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4" name="flow-sub-6"/>
          <p:cNvSpPr>
            <a:spLocks noGrp="1"/>
          </p:cNvSpPr>
          <p:nvPr/>
        </p:nvSpPr>
        <p:spPr>
          <a:xfrm>
            <a:off x="10261600" y="239395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buClrTx/>
              <a:buSzTx/>
              <a:buFontTx/>
              <a:buNone/>
            </a:pPr>
            <a:r>
              <a:rPr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Jump to map app navigation; split costs by custom ratio</a:t>
            </a:r>
            <a:endParaRPr sz="10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5" name="flow-caption"/>
          <p:cNvSpPr>
            <a:spLocks noGrp="1"/>
          </p:cNvSpPr>
          <p:nvPr/>
        </p:nvSpPr>
        <p:spPr>
          <a:xfrm>
            <a:off x="711200" y="31750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sz="9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all tracks build in parallel on one JSON / API contract</a:t>
            </a:r>
            <a:endParaRPr sz="900"/>
          </a:p>
        </p:txBody>
      </p:sp>
      <p:sp>
        <p:nvSpPr>
          <p:cNvPr id="26" name="mvp-rule"/>
          <p:cNvSpPr>
            <a:spLocks noGrp="1"/>
          </p:cNvSpPr>
          <p:nvPr/>
        </p:nvSpPr>
        <p:spPr>
          <a:xfrm>
            <a:off x="711200" y="3632200"/>
            <a:ext cx="6705600" cy="25400"/>
          </a:xfrm>
          <a:prstGeom prst="rect">
            <a:avLst/>
          </a:prstGeom>
          <a:solidFill>
            <a:srgbClr val="B96A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mvp-title"/>
          <p:cNvSpPr>
            <a:spLocks noGrp="1"/>
          </p:cNvSpPr>
          <p:nvPr/>
        </p:nvSpPr>
        <p:spPr>
          <a:xfrm>
            <a:off x="711200" y="3835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6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Core features (MVP)</a:t>
            </a:r>
            <a:endParaRPr sz="1600"/>
          </a:p>
        </p:txBody>
      </p:sp>
      <p:sp>
        <p:nvSpPr>
          <p:cNvPr id="28" name="mvp-list"/>
          <p:cNvSpPr>
            <a:spLocks noGrp="1"/>
          </p:cNvSpPr>
          <p:nvPr/>
        </p:nvSpPr>
        <p:spPr>
          <a:xfrm>
            <a:off x="711200" y="4267200"/>
            <a:ext cx="7532370" cy="180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48000"/>
              </a:lnSpc>
              <a:buNone/>
            </a:pPr>
            <a:r>
              <a:rPr sz="13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01</a:t>
            </a:r>
            <a:r>
              <a:rPr sz="13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Multi-user collaboration: invites, attributed edits, conflict surfacing</a:t>
            </a:r>
            <a:endParaRPr sz="1300"/>
          </a:p>
          <a:p>
            <a:pPr>
              <a:lnSpc>
                <a:spcPct val="148000"/>
              </a:lnSpc>
              <a:buNone/>
            </a:pPr>
            <a:r>
              <a:rPr sz="13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02</a:t>
            </a:r>
            <a:r>
              <a:rPr sz="13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Natural-language generation of a shared multi-day itinerary</a:t>
            </a:r>
            <a:endParaRPr sz="1300"/>
          </a:p>
          <a:p>
            <a:pPr>
              <a:lnSpc>
                <a:spcPct val="148000"/>
              </a:lnSpc>
              <a:buNone/>
            </a:pPr>
            <a:r>
              <a:rPr sz="13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03</a:t>
            </a:r>
            <a:r>
              <a:rPr sz="13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</a:t>
            </a:r>
            <a:r>
              <a:rPr lang="en-US" altLang="zh-CN" sz="1300"/>
              <a:t>Paste-in guide import — paste notes, AI extracts places, dining, hotels, durations</a:t>
            </a:r>
            <a:endParaRPr lang="en-US" altLang="zh-CN" sz="1300"/>
          </a:p>
          <a:p>
            <a:pPr>
              <a:lnSpc>
                <a:spcPct val="148000"/>
              </a:lnSpc>
              <a:buNone/>
            </a:pPr>
            <a:r>
              <a:rPr sz="13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04</a:t>
            </a:r>
            <a:r>
              <a:rPr sz="13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Timeline editing; mid-trip local re-planning with auto re-checks</a:t>
            </a:r>
            <a:endParaRPr sz="1300"/>
          </a:p>
          <a:p>
            <a:pPr>
              <a:lnSpc>
                <a:spcPct val="148000"/>
              </a:lnSpc>
              <a:buNone/>
            </a:pPr>
            <a:r>
              <a:rPr sz="13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05</a:t>
            </a:r>
            <a:r>
              <a:rPr sz="13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</a:t>
            </a:r>
            <a:r>
              <a:rPr lang="en-US" altLang="zh-CN" sz="1300"/>
              <a:t>Point-to-point transport cards — walk / bike / drive / transit with distance and duration; one-tap jump to map app</a:t>
            </a:r>
            <a:endParaRPr lang="en-US" altLang="zh-CN" sz="1300"/>
          </a:p>
          <a:p>
            <a:pPr>
              <a:lnSpc>
                <a:spcPct val="148000"/>
              </a:lnSpc>
              <a:buNone/>
            </a:pPr>
            <a:r>
              <a:rPr sz="13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06</a:t>
            </a:r>
            <a:r>
              <a:rPr sz="13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</a:t>
            </a:r>
            <a:r>
              <a:rPr lang="en-US" altLang="zh-CN" sz="1300"/>
              <a:t>Custom AA expense ledger — split shared costs by equal, ratio, or per-item; tied to itinerary items</a:t>
            </a:r>
            <a:endParaRPr lang="en-US" altLang="zh-CN" sz="1300"/>
          </a:p>
        </p:txBody>
      </p:sp>
      <p:sp>
        <p:nvSpPr>
          <p:cNvPr id="29" name="right-divider"/>
          <p:cNvSpPr>
            <a:spLocks noGrp="1"/>
          </p:cNvSpPr>
          <p:nvPr/>
        </p:nvSpPr>
        <p:spPr>
          <a:xfrm>
            <a:off x="8414385" y="3708400"/>
            <a:ext cx="12700" cy="24130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out-title"/>
          <p:cNvSpPr>
            <a:spLocks noGrp="1"/>
          </p:cNvSpPr>
          <p:nvPr/>
        </p:nvSpPr>
        <p:spPr>
          <a:xfrm>
            <a:off x="8871585" y="4467225"/>
            <a:ext cx="299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buClrTx/>
              <a:buSzTx/>
              <a:buFontTx/>
              <a:buNone/>
            </a:pPr>
            <a:r>
              <a:rPr sz="16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Future Work</a:t>
            </a:r>
            <a:endParaRPr sz="1600" b="1"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1" name="out-list"/>
          <p:cNvSpPr>
            <a:spLocks noGrp="1"/>
          </p:cNvSpPr>
          <p:nvPr/>
        </p:nvSpPr>
        <p:spPr>
          <a:xfrm>
            <a:off x="8871585" y="4822825"/>
            <a:ext cx="2997200" cy="7550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— Automatic web-link parsing</a:t>
            </a:r>
            <a:endParaRPr sz="1200"/>
          </a:p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— Screenshot OCR</a:t>
            </a:r>
            <a:endParaRPr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-rule"/>
          <p:cNvSpPr>
            <a:spLocks noGrp="1"/>
          </p:cNvSpPr>
          <p:nvPr/>
        </p:nvSpPr>
        <p:spPr>
          <a:xfrm>
            <a:off x="711200" y="482600"/>
            <a:ext cx="10769600" cy="127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-label"/>
          <p:cNvSpPr>
            <a:spLocks noGrp="1"/>
          </p:cNvSpPr>
          <p:nvPr/>
        </p:nvSpPr>
        <p:spPr>
          <a:xfrm>
            <a:off x="711200" y="2159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0</a:t>
            </a:r>
            <a:r>
              <a:rPr lang="en-US"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5</a:t>
            </a: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 </a:t>
            </a:r>
            <a:r>
              <a:rPr lang="en-US"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Technology -</a:t>
            </a: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 TECH STACK</a:t>
            </a:r>
            <a:endParaRPr sz="1100"/>
          </a:p>
        </p:txBody>
      </p:sp>
      <p:sp>
        <p:nvSpPr>
          <p:cNvPr id="4" name="page-no"/>
          <p:cNvSpPr>
            <a:spLocks noGrp="1"/>
          </p:cNvSpPr>
          <p:nvPr/>
        </p:nvSpPr>
        <p:spPr>
          <a:xfrm>
            <a:off x="11049000" y="215900"/>
            <a:ext cx="431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lang="en-US" sz="1000"/>
              <a:t>10</a:t>
            </a:r>
            <a:endParaRPr lang="en-US" sz="1000"/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711200" y="736600"/>
            <a:ext cx="107696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5000"/>
              </a:lnSpc>
              <a:buNone/>
            </a:pPr>
            <a:r>
              <a:rPr sz="2900" b="1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Tech stack: proven parts, one shared JSON contract</a:t>
            </a:r>
            <a:endParaRPr sz="2900"/>
          </a:p>
        </p:txBody>
      </p:sp>
      <p:graphicFrame>
        <p:nvGraphicFramePr>
          <p:cNvPr id="18" name="stack-table"/>
          <p:cNvGraphicFramePr/>
          <p:nvPr/>
        </p:nvGraphicFramePr>
        <p:xfrm>
          <a:off x="711200" y="1727200"/>
          <a:ext cx="7416800" cy="3962400"/>
        </p:xfrm>
        <a:graphic>
          <a:graphicData uri="http://schemas.openxmlformats.org/drawingml/2006/table">
            <a:tbl>
              <a:tblPr/>
              <a:tblGrid>
                <a:gridCol w="1631696"/>
                <a:gridCol w="2225040"/>
                <a:gridCol w="3560064"/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355C52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Layer</a:t>
                      </a:r>
                      <a:endParaRPr sz="1200" b="1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DCE3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355C52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V1 technology</a:t>
                      </a:r>
                      <a:endParaRPr sz="1200" b="1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DCE3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355C52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Main role</a:t>
                      </a:r>
                      <a:endParaRPr sz="1200" b="1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DCE3D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Web frontend</a:t>
                      </a:r>
                      <a:endParaRPr sz="1200" b="1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React + TypeScript</a:t>
                      </a:r>
                      <a:endParaRPr sz="12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Input, itinerary display, timeline, map, weather</a:t>
                      </a:r>
                      <a:endParaRPr sz="12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Backend</a:t>
                      </a:r>
                      <a:endParaRPr sz="1200" b="1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Python + FastAPI</a:t>
                      </a:r>
                      <a:endParaRPr sz="12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Requests, AI &amp; API calls, data orchestration</a:t>
                      </a:r>
                      <a:endParaRPr sz="12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Database</a:t>
                      </a:r>
                      <a:endParaRPr sz="1200" b="1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PostgreSQL</a:t>
                      </a:r>
                      <a:endParaRPr sz="12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Trips, members, expenses, edit history</a:t>
                      </a:r>
                      <a:endParaRPr sz="12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AI</a:t>
                      </a:r>
                      <a:endParaRPr sz="1200" b="1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LLM API</a:t>
                      </a:r>
                      <a:endParaRPr sz="12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Understand needs, parse guides, generate / revise plans</a:t>
                      </a:r>
                      <a:endParaRPr sz="12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Maps</a:t>
                      </a:r>
                      <a:endParaRPr sz="1200" b="1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Amap Web / JS API</a:t>
                      </a:r>
                      <a:endParaRPr sz="12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POI, coordinates, distances, routes, map display</a:t>
                      </a:r>
                      <a:endParaRPr sz="12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Weather</a:t>
                      </a:r>
                      <a:endParaRPr sz="1200" b="1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OpenWeather API</a:t>
                      </a:r>
                      <a:endParaRPr sz="12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Condition, temperature, rainfall at the destination</a:t>
                      </a:r>
                      <a:endParaRPr sz="12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Data format</a:t>
                      </a:r>
                      <a:endParaRPr sz="1200" b="1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JSON</a:t>
                      </a:r>
                      <a:endParaRPr sz="12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One exchange format for frontend, backend, Agent</a:t>
                      </a:r>
                      <a:endParaRPr sz="12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ight-divider"/>
          <p:cNvSpPr>
            <a:spLocks noGrp="1"/>
          </p:cNvSpPr>
          <p:nvPr/>
        </p:nvSpPr>
        <p:spPr>
          <a:xfrm>
            <a:off x="8483600" y="1727200"/>
            <a:ext cx="12700" cy="39624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why-title"/>
          <p:cNvSpPr>
            <a:spLocks noGrp="1"/>
          </p:cNvSpPr>
          <p:nvPr/>
        </p:nvSpPr>
        <p:spPr>
          <a:xfrm>
            <a:off x="8890000" y="1727200"/>
            <a:ext cx="2590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6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Why this stack</a:t>
            </a:r>
            <a:endParaRPr sz="1600"/>
          </a:p>
        </p:txBody>
      </p:sp>
      <p:sp>
        <p:nvSpPr>
          <p:cNvPr id="9" name="why-list"/>
          <p:cNvSpPr>
            <a:spLocks noGrp="1"/>
          </p:cNvSpPr>
          <p:nvPr/>
        </p:nvSpPr>
        <p:spPr>
          <a:xfrm>
            <a:off x="8890000" y="2209800"/>
            <a:ext cx="259080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30000"/>
              </a:lnSpc>
              <a:buNone/>
            </a:pPr>
            <a:r>
              <a:rPr sz="11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01</a:t>
            </a:r>
            <a:r>
              <a:rPr sz="11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</a:t>
            </a:r>
            <a:r>
              <a:rPr sz="11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Web UI</a:t>
            </a:r>
            <a:endParaRPr sz="1100"/>
          </a:p>
          <a:p>
            <a:pPr marL="330200">
              <a:lnSpc>
                <a:spcPct val="130000"/>
              </a:lnSpc>
              <a:buNone/>
            </a:pPr>
            <a:r>
              <a:rPr sz="11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React + TypeScript keeps the growing shared state type-safe</a:t>
            </a:r>
            <a:endParaRPr sz="1100"/>
          </a:p>
          <a:p>
            <a:pPr>
              <a:lnSpc>
                <a:spcPct val="130000"/>
              </a:lnSpc>
              <a:spcBef>
                <a:spcPts val="800"/>
              </a:spcBef>
              <a:buNone/>
            </a:pPr>
            <a:r>
              <a:rPr sz="11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02</a:t>
            </a:r>
            <a:r>
              <a:rPr sz="11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</a:t>
            </a:r>
            <a:r>
              <a:rPr sz="11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FastAPI</a:t>
            </a:r>
            <a:endParaRPr sz="1100"/>
          </a:p>
          <a:p>
            <a:pPr marL="330200">
              <a:lnSpc>
                <a:spcPct val="130000"/>
              </a:lnSpc>
              <a:buNone/>
            </a:pPr>
            <a:r>
              <a:rPr sz="11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Connects directly with Python AI code; fast REST development</a:t>
            </a:r>
            <a:endParaRPr sz="1100"/>
          </a:p>
          <a:p>
            <a:pPr>
              <a:lnSpc>
                <a:spcPct val="130000"/>
              </a:lnSpc>
              <a:spcBef>
                <a:spcPts val="800"/>
              </a:spcBef>
              <a:buNone/>
            </a:pPr>
            <a:r>
              <a:rPr sz="11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03</a:t>
            </a:r>
            <a:r>
              <a:rPr sz="11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</a:t>
            </a:r>
            <a:r>
              <a:rPr sz="11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PostgreSQL</a:t>
            </a:r>
            <a:endParaRPr sz="1100"/>
          </a:p>
          <a:p>
            <a:pPr marL="330200">
              <a:lnSpc>
                <a:spcPct val="130000"/>
              </a:lnSpc>
              <a:buNone/>
            </a:pPr>
            <a:r>
              <a:rPr sz="11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Relational integrity and concurrent writes for members, bills, history</a:t>
            </a:r>
            <a:endParaRPr sz="1100"/>
          </a:p>
          <a:p>
            <a:pPr>
              <a:lnSpc>
                <a:spcPct val="130000"/>
              </a:lnSpc>
              <a:spcBef>
                <a:spcPts val="800"/>
              </a:spcBef>
              <a:buNone/>
            </a:pPr>
            <a:r>
              <a:rPr sz="11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04</a:t>
            </a:r>
            <a:r>
              <a:rPr sz="11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</a:t>
            </a:r>
            <a:r>
              <a:rPr sz="11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APIs for facts</a:t>
            </a:r>
            <a:endParaRPr sz="1100"/>
          </a:p>
          <a:p>
            <a:pPr marL="330200">
              <a:lnSpc>
                <a:spcPct val="130000"/>
              </a:lnSpc>
              <a:buNone/>
            </a:pPr>
            <a:r>
              <a:rPr sz="11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The LLM understands and decides — it never guesses facts</a:t>
            </a:r>
            <a:endParaRPr sz="1100"/>
          </a:p>
        </p:txBody>
      </p:sp>
      <p:sp>
        <p:nvSpPr>
          <p:cNvPr id="10" name="key-rule"/>
          <p:cNvSpPr>
            <a:spLocks noGrp="1"/>
          </p:cNvSpPr>
          <p:nvPr/>
        </p:nvSpPr>
        <p:spPr>
          <a:xfrm>
            <a:off x="8890000" y="5257800"/>
            <a:ext cx="2590800" cy="25400"/>
          </a:xfrm>
          <a:prstGeom prst="rect">
            <a:avLst/>
          </a:prstGeom>
          <a:solidFill>
            <a:srgbClr val="B96A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ey-line"/>
          <p:cNvSpPr>
            <a:spLocks noGrp="1"/>
          </p:cNvSpPr>
          <p:nvPr/>
        </p:nvSpPr>
        <p:spPr>
          <a:xfrm>
            <a:off x="8890000" y="5435600"/>
            <a:ext cx="25908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30000"/>
              </a:lnSpc>
              <a:buNone/>
            </a:pPr>
            <a:r>
              <a:rPr sz="1400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Facts come from tools; the model handles language.</a:t>
            </a:r>
            <a:endParaRPr sz="1400"/>
          </a:p>
        </p:txBody>
      </p:sp>
      <p:sp>
        <p:nvSpPr>
          <p:cNvPr id="12" name="footer"/>
          <p:cNvSpPr>
            <a:spLocks noGrp="1"/>
          </p:cNvSpPr>
          <p:nvPr/>
        </p:nvSpPr>
        <p:spPr>
          <a:xfrm>
            <a:off x="711200" y="64770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sz="9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Stack source: Tech Stack &amp; Data Sources (proposal material); DB upgraded to PostgreSQL for multi-user state</a:t>
            </a:r>
            <a:endParaRPr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-rule"/>
          <p:cNvSpPr>
            <a:spLocks noGrp="1"/>
          </p:cNvSpPr>
          <p:nvPr/>
        </p:nvSpPr>
        <p:spPr>
          <a:xfrm>
            <a:off x="711200" y="482600"/>
            <a:ext cx="10769600" cy="127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-label"/>
          <p:cNvSpPr>
            <a:spLocks noGrp="1"/>
          </p:cNvSpPr>
          <p:nvPr/>
        </p:nvSpPr>
        <p:spPr>
          <a:xfrm>
            <a:off x="711200" y="2159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0</a:t>
            </a:r>
            <a:r>
              <a:rPr lang="en-US"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5</a:t>
            </a: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 </a:t>
            </a:r>
            <a:r>
              <a:rPr lang="en-US"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  <a:sym typeface="+mn-ea"/>
              </a:rPr>
              <a:t>Technology -</a:t>
            </a: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  <a:sym typeface="+mn-ea"/>
              </a:rPr>
              <a:t> </a:t>
            </a: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DATA SOURCES</a:t>
            </a:r>
            <a:endParaRPr sz="1100"/>
          </a:p>
        </p:txBody>
      </p:sp>
      <p:sp>
        <p:nvSpPr>
          <p:cNvPr id="4" name="page-no"/>
          <p:cNvSpPr>
            <a:spLocks noGrp="1"/>
          </p:cNvSpPr>
          <p:nvPr/>
        </p:nvSpPr>
        <p:spPr>
          <a:xfrm>
            <a:off x="11049000" y="215900"/>
            <a:ext cx="431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lang="en-US"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11</a:t>
            </a:r>
            <a:endParaRPr lang="en-US" sz="10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711200" y="736600"/>
            <a:ext cx="107696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5000"/>
              </a:lnSpc>
              <a:buNone/>
            </a:pPr>
            <a:r>
              <a:rPr sz="3000" b="1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Data sources: user intent, guides, maps, and weather</a:t>
            </a:r>
            <a:endParaRPr sz="3000"/>
          </a:p>
        </p:txBody>
      </p:sp>
      <p:sp>
        <p:nvSpPr>
          <p:cNvPr id="6" name="src-1-no"/>
          <p:cNvSpPr>
            <a:spLocks noGrp="1"/>
          </p:cNvSpPr>
          <p:nvPr/>
        </p:nvSpPr>
        <p:spPr>
          <a:xfrm>
            <a:off x="711200" y="1568450"/>
            <a:ext cx="533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800" b="1">
                <a:solidFill>
                  <a:srgbClr val="B96A4B"/>
                </a:solidFill>
                <a:latin typeface="思源宋体"/>
                <a:ea typeface="思源宋体"/>
                <a:cs typeface="思源宋体"/>
              </a:rPr>
              <a:t>01</a:t>
            </a:r>
            <a:endParaRPr sz="2800" b="1">
              <a:solidFill>
                <a:srgbClr val="B96A4B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7" name="src-1-name"/>
          <p:cNvSpPr>
            <a:spLocks noGrp="1"/>
          </p:cNvSpPr>
          <p:nvPr/>
        </p:nvSpPr>
        <p:spPr>
          <a:xfrm>
            <a:off x="1422400" y="1568450"/>
            <a:ext cx="279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User input</a:t>
            </a:r>
            <a:endParaRPr b="1"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8" name="src-1-body"/>
          <p:cNvSpPr>
            <a:spLocks noGrp="1"/>
          </p:cNvSpPr>
          <p:nvPr/>
        </p:nvSpPr>
        <p:spPr>
          <a:xfrm>
            <a:off x="4470400" y="1568450"/>
            <a:ext cx="7010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4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Destination, dates, budget, interests, and rhythm limits — the structured constraints every plan must satisfy. Example: “3 days in Shanghai in October, budget 3000, museums and food, no waking before 8 AM.”</a:t>
            </a:r>
            <a:endParaRPr sz="14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9" name="sep-1"/>
          <p:cNvSpPr>
            <a:spLocks noGrp="1"/>
          </p:cNvSpPr>
          <p:nvPr/>
        </p:nvSpPr>
        <p:spPr>
          <a:xfrm>
            <a:off x="711200" y="2736850"/>
            <a:ext cx="10769600" cy="127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>
            <a:endParaRPr sz="2000"/>
          </a:p>
        </p:txBody>
      </p:sp>
      <p:sp>
        <p:nvSpPr>
          <p:cNvPr id="10" name="src-2-no"/>
          <p:cNvSpPr>
            <a:spLocks noGrp="1"/>
          </p:cNvSpPr>
          <p:nvPr/>
        </p:nvSpPr>
        <p:spPr>
          <a:xfrm>
            <a:off x="711200" y="2990850"/>
            <a:ext cx="533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800" b="1">
                <a:solidFill>
                  <a:srgbClr val="B96A4B"/>
                </a:solidFill>
                <a:latin typeface="思源宋体"/>
                <a:ea typeface="思源宋体"/>
                <a:cs typeface="思源宋体"/>
              </a:rPr>
              <a:t>02</a:t>
            </a:r>
            <a:endParaRPr sz="2800" b="1">
              <a:solidFill>
                <a:srgbClr val="B96A4B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11" name="src-2-name"/>
          <p:cNvSpPr>
            <a:spLocks noGrp="1"/>
          </p:cNvSpPr>
          <p:nvPr/>
        </p:nvSpPr>
        <p:spPr>
          <a:xfrm>
            <a:off x="1422400" y="2990850"/>
            <a:ext cx="279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Pasted guide text</a:t>
            </a:r>
            <a:endParaRPr b="1"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2" name="src-2-body"/>
          <p:cNvSpPr>
            <a:spLocks noGrp="1"/>
          </p:cNvSpPr>
          <p:nvPr/>
        </p:nvSpPr>
        <p:spPr>
          <a:xfrm>
            <a:off x="4470400" y="2990850"/>
            <a:ext cx="7010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4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AI extracts places, dining, hotels, suggested durations, reasons, and budget hints. V1 accepts pasted text only — no platform scraping; link parsing and screenshot OCR come later.</a:t>
            </a:r>
            <a:endParaRPr sz="14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3" name="sep-2"/>
          <p:cNvSpPr>
            <a:spLocks noGrp="1"/>
          </p:cNvSpPr>
          <p:nvPr/>
        </p:nvSpPr>
        <p:spPr>
          <a:xfrm>
            <a:off x="711200" y="4159250"/>
            <a:ext cx="10769600" cy="127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>
            <a:endParaRPr sz="2000"/>
          </a:p>
        </p:txBody>
      </p:sp>
      <p:sp>
        <p:nvSpPr>
          <p:cNvPr id="14" name="src-3-no"/>
          <p:cNvSpPr>
            <a:spLocks noGrp="1"/>
          </p:cNvSpPr>
          <p:nvPr/>
        </p:nvSpPr>
        <p:spPr>
          <a:xfrm>
            <a:off x="711200" y="4413250"/>
            <a:ext cx="533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800" b="1">
                <a:solidFill>
                  <a:srgbClr val="B96A4B"/>
                </a:solidFill>
                <a:latin typeface="思源宋体"/>
                <a:ea typeface="思源宋体"/>
                <a:cs typeface="思源宋体"/>
              </a:rPr>
              <a:t>03</a:t>
            </a:r>
            <a:endParaRPr sz="2800" b="1">
              <a:solidFill>
                <a:srgbClr val="B96A4B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15" name="src-3-name"/>
          <p:cNvSpPr>
            <a:spLocks noGrp="1"/>
          </p:cNvSpPr>
          <p:nvPr/>
        </p:nvSpPr>
        <p:spPr>
          <a:xfrm>
            <a:off x="1422400" y="4413250"/>
            <a:ext cx="279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Map &amp; place data — Amap</a:t>
            </a:r>
            <a:endParaRPr b="1"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6" name="src-3-body"/>
          <p:cNvSpPr>
            <a:spLocks noGrp="1"/>
          </p:cNvSpPr>
          <p:nvPr/>
        </p:nvSpPr>
        <p:spPr>
          <a:xfrm>
            <a:off x="4470400" y="4413250"/>
            <a:ext cx="7010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4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POI search, coordinates, distances, walk / drive / transit routes, travel time, and map display. A-to-B duration always comes from the map service — the LLM never guesses it.</a:t>
            </a:r>
            <a:endParaRPr sz="14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7" name="sep-3"/>
          <p:cNvSpPr>
            <a:spLocks noGrp="1"/>
          </p:cNvSpPr>
          <p:nvPr/>
        </p:nvSpPr>
        <p:spPr>
          <a:xfrm>
            <a:off x="711200" y="5581650"/>
            <a:ext cx="10769600" cy="127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>
            <a:endParaRPr sz="2000"/>
          </a:p>
        </p:txBody>
      </p:sp>
      <p:sp>
        <p:nvSpPr>
          <p:cNvPr id="18" name="src-4-no"/>
          <p:cNvSpPr>
            <a:spLocks noGrp="1"/>
          </p:cNvSpPr>
          <p:nvPr/>
        </p:nvSpPr>
        <p:spPr>
          <a:xfrm>
            <a:off x="711200" y="5810250"/>
            <a:ext cx="533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2800" b="1">
                <a:solidFill>
                  <a:srgbClr val="B96A4B"/>
                </a:solidFill>
                <a:latin typeface="思源宋体"/>
                <a:ea typeface="思源宋体"/>
                <a:cs typeface="思源宋体"/>
              </a:rPr>
              <a:t>04</a:t>
            </a:r>
            <a:endParaRPr sz="2800" b="1">
              <a:solidFill>
                <a:srgbClr val="B96A4B"/>
              </a:solidFill>
              <a:latin typeface="思源宋体"/>
              <a:ea typeface="思源宋体"/>
              <a:cs typeface="思源宋体"/>
            </a:endParaRPr>
          </a:p>
        </p:txBody>
      </p:sp>
      <p:sp>
        <p:nvSpPr>
          <p:cNvPr id="19" name="src-4-name"/>
          <p:cNvSpPr>
            <a:spLocks noGrp="1"/>
          </p:cNvSpPr>
          <p:nvPr/>
        </p:nvSpPr>
        <p:spPr>
          <a:xfrm>
            <a:off x="1422400" y="581025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Weather API</a:t>
            </a:r>
            <a:endParaRPr b="1"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0" name="src-4-body"/>
          <p:cNvSpPr>
            <a:spLocks noGrp="1"/>
          </p:cNvSpPr>
          <p:nvPr/>
        </p:nvSpPr>
        <p:spPr>
          <a:xfrm>
            <a:off x="4470400" y="5759450"/>
            <a:ext cx="7010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4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Weather type, high / low temperature, rainfall. Rain → fewer outdoor spots, museums first, outdoor items shifted to better time slots.</a:t>
            </a:r>
            <a:endParaRPr sz="14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1" name="footer"/>
          <p:cNvSpPr>
            <a:spLocks noGrp="1"/>
          </p:cNvSpPr>
          <p:nvPr/>
        </p:nvSpPr>
        <p:spPr>
          <a:xfrm>
            <a:off x="711200" y="65532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sz="9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Data source: Tech Stack &amp; Data Sources (proposal material), section 3 — four V1 data categories</a:t>
            </a:r>
            <a:endParaRPr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-rule"/>
          <p:cNvSpPr>
            <a:spLocks noGrp="1"/>
          </p:cNvSpPr>
          <p:nvPr/>
        </p:nvSpPr>
        <p:spPr>
          <a:xfrm>
            <a:off x="711200" y="482600"/>
            <a:ext cx="10769600" cy="127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-label"/>
          <p:cNvSpPr>
            <a:spLocks noGrp="1"/>
          </p:cNvSpPr>
          <p:nvPr/>
        </p:nvSpPr>
        <p:spPr>
          <a:xfrm>
            <a:off x="711200" y="2159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  <a:sym typeface="+mn-ea"/>
              </a:rPr>
              <a:t>0</a:t>
            </a:r>
            <a:r>
              <a:rPr lang="en-US"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  <a:sym typeface="+mn-ea"/>
              </a:rPr>
              <a:t>5</a:t>
            </a: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  <a:sym typeface="+mn-ea"/>
              </a:rPr>
              <a:t> </a:t>
            </a:r>
            <a:r>
              <a:rPr lang="en-US"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  <a:sym typeface="+mn-ea"/>
              </a:rPr>
              <a:t>Technology -</a:t>
            </a: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  <a:sym typeface="+mn-ea"/>
              </a:rPr>
              <a:t> </a:t>
            </a: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ROLE OF AI</a:t>
            </a:r>
            <a:endParaRPr sz="1100"/>
          </a:p>
        </p:txBody>
      </p:sp>
      <p:sp>
        <p:nvSpPr>
          <p:cNvPr id="4" name="page-no"/>
          <p:cNvSpPr>
            <a:spLocks noGrp="1"/>
          </p:cNvSpPr>
          <p:nvPr/>
        </p:nvSpPr>
        <p:spPr>
          <a:xfrm>
            <a:off x="11049000" y="215900"/>
            <a:ext cx="431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lang="en-US" sz="1000"/>
              <a:t>12</a:t>
            </a:r>
            <a:endParaRPr lang="en-US" sz="1000"/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711200" y="736600"/>
            <a:ext cx="107696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5000"/>
              </a:lnSpc>
              <a:buNone/>
            </a:pPr>
            <a:r>
              <a:rPr sz="2600" b="1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Role of AI: the LLM proposes; deterministic systems verify</a:t>
            </a:r>
            <a:endParaRPr sz="2600"/>
          </a:p>
        </p:txBody>
      </p:sp>
      <p:sp>
        <p:nvSpPr>
          <p:cNvPr id="6" name="system-boundary"/>
          <p:cNvSpPr>
            <a:spLocks noGrp="1"/>
          </p:cNvSpPr>
          <p:nvPr/>
        </p:nvSpPr>
        <p:spPr>
          <a:xfrm>
            <a:off x="685800" y="1498600"/>
            <a:ext cx="7493000" cy="4292600"/>
          </a:xfrm>
          <a:prstGeom prst="rect">
            <a:avLst/>
          </a:prstGeom>
          <a:solidFill>
            <a:srgbClr val="FFFDF8">
              <a:alpha val="30196"/>
            </a:srgbClr>
          </a:solidFill>
          <a:ln w="12700">
            <a:solidFill>
              <a:srgbClr val="C8C0B3"/>
            </a:solidFill>
          </a:ln>
        </p:spPr>
        <p:txBody>
          <a:bodyPr/>
          <a:lstStyle/>
          <a:p/>
        </p:txBody>
      </p:sp>
      <p:sp>
        <p:nvSpPr>
          <p:cNvPr id="7" name="boundary-label"/>
          <p:cNvSpPr>
            <a:spLocks noGrp="1"/>
          </p:cNvSpPr>
          <p:nvPr/>
        </p:nvSpPr>
        <p:spPr>
          <a:xfrm>
            <a:off x="889000" y="16002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900" spc="100">
                <a:solidFill>
                  <a:srgbClr val="A9A398"/>
                </a:solidFill>
                <a:latin typeface="MiSans" charset="-122"/>
                <a:ea typeface="MiSans" charset="-122"/>
                <a:cs typeface="MiSans" charset="-122"/>
              </a:rPr>
              <a:t>SYSTEM BOUNDARY</a:t>
            </a:r>
            <a:endParaRPr sz="900"/>
          </a:p>
        </p:txBody>
      </p:sp>
      <p:sp>
        <p:nvSpPr>
          <p:cNvPr id="8" name="node-ui"/>
          <p:cNvSpPr>
            <a:spLocks noGrp="1"/>
          </p:cNvSpPr>
          <p:nvPr/>
        </p:nvSpPr>
        <p:spPr>
          <a:xfrm>
            <a:off x="1041400" y="2133600"/>
            <a:ext cx="1600200" cy="660400"/>
          </a:xfrm>
          <a:prstGeom prst="rect">
            <a:avLst/>
          </a:prstGeom>
          <a:solidFill>
            <a:srgbClr val="FFFDF8"/>
          </a:solidFill>
          <a:ln w="12700">
            <a:solidFill>
              <a:srgbClr val="355C52"/>
            </a:solidFill>
          </a:ln>
        </p:spPr>
        <p:txBody>
          <a:bodyPr/>
          <a:lstStyle/>
          <a:p/>
        </p:txBody>
      </p:sp>
      <p:sp>
        <p:nvSpPr>
          <p:cNvPr id="9" name="node-ui-text"/>
          <p:cNvSpPr>
            <a:spLocks noGrp="1"/>
          </p:cNvSpPr>
          <p:nvPr/>
        </p:nvSpPr>
        <p:spPr>
          <a:xfrm>
            <a:off x="1168400" y="2260600"/>
            <a:ext cx="1346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Web UI</a:t>
            </a:r>
            <a:b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</a:b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input / edit / confirm</a:t>
            </a:r>
            <a:endParaRPr sz="1200"/>
          </a:p>
        </p:txBody>
      </p:sp>
      <p:sp>
        <p:nvSpPr>
          <p:cNvPr id="10" name="arrow-ui-api"/>
          <p:cNvSpPr>
            <a:spLocks noGrp="1"/>
          </p:cNvSpPr>
          <p:nvPr/>
        </p:nvSpPr>
        <p:spPr>
          <a:xfrm>
            <a:off x="2692400" y="2413000"/>
            <a:ext cx="533400" cy="101600"/>
          </a:xfrm>
          <a:custGeom>
            <a:avLst/>
            <a:gdLst/>
            <a:ahLst/>
            <a:cxnLst/>
            <a:rect l="l" t="t" r="r" b="b"/>
            <a:pathLst>
              <a:path w="42" h="8">
                <a:moveTo>
                  <a:pt x="0" y="4"/>
                </a:moveTo>
                <a:lnTo>
                  <a:pt x="42" y="4"/>
                </a:lnTo>
              </a:path>
            </a:pathLst>
          </a:custGeom>
          <a:noFill/>
          <a:ln w="25400">
            <a:solidFill>
              <a:srgbClr val="355C52"/>
            </a:solidFill>
            <a:tailEnd type="stealth"/>
          </a:ln>
        </p:spPr>
        <p:txBody>
          <a:bodyPr/>
          <a:lstStyle/>
          <a:p/>
        </p:txBody>
      </p:sp>
      <p:sp>
        <p:nvSpPr>
          <p:cNvPr id="11" name="node-api"/>
          <p:cNvSpPr>
            <a:spLocks noGrp="1"/>
          </p:cNvSpPr>
          <p:nvPr/>
        </p:nvSpPr>
        <p:spPr>
          <a:xfrm>
            <a:off x="3276600" y="2133600"/>
            <a:ext cx="1676400" cy="660400"/>
          </a:xfrm>
          <a:prstGeom prst="rect">
            <a:avLst/>
          </a:prstGeom>
          <a:solidFill>
            <a:srgbClr val="FFFDF8"/>
          </a:solidFill>
          <a:ln w="12700">
            <a:solidFill>
              <a:srgbClr val="355C52"/>
            </a:solidFill>
          </a:ln>
        </p:spPr>
        <p:txBody>
          <a:bodyPr/>
          <a:lstStyle/>
          <a:p/>
        </p:txBody>
      </p:sp>
      <p:sp>
        <p:nvSpPr>
          <p:cNvPr id="12" name="node-api-text"/>
          <p:cNvSpPr>
            <a:spLocks noGrp="1"/>
          </p:cNvSpPr>
          <p:nvPr/>
        </p:nvSpPr>
        <p:spPr>
          <a:xfrm>
            <a:off x="3403600" y="2260600"/>
            <a:ext cx="1422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FastAPI</a:t>
            </a:r>
            <a:b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</a:b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Trip Store</a:t>
            </a:r>
            <a:endParaRPr sz="1200"/>
          </a:p>
        </p:txBody>
      </p:sp>
      <p:sp>
        <p:nvSpPr>
          <p:cNvPr id="13" name="arrow-api-orch"/>
          <p:cNvSpPr>
            <a:spLocks noGrp="1"/>
          </p:cNvSpPr>
          <p:nvPr/>
        </p:nvSpPr>
        <p:spPr>
          <a:xfrm>
            <a:off x="5003800" y="2413000"/>
            <a:ext cx="508000" cy="101600"/>
          </a:xfrm>
          <a:custGeom>
            <a:avLst/>
            <a:gdLst/>
            <a:ahLst/>
            <a:cxnLst/>
            <a:rect l="l" t="t" r="r" b="b"/>
            <a:pathLst>
              <a:path w="40" h="8">
                <a:moveTo>
                  <a:pt x="0" y="4"/>
                </a:moveTo>
                <a:lnTo>
                  <a:pt x="40" y="4"/>
                </a:lnTo>
              </a:path>
            </a:pathLst>
          </a:custGeom>
          <a:noFill/>
          <a:ln w="25400">
            <a:solidFill>
              <a:srgbClr val="355C52"/>
            </a:solidFill>
            <a:tailEnd type="stealth"/>
          </a:ln>
        </p:spPr>
        <p:txBody>
          <a:bodyPr/>
          <a:lstStyle/>
          <a:p/>
        </p:txBody>
      </p:sp>
      <p:sp>
        <p:nvSpPr>
          <p:cNvPr id="14" name="node-orch"/>
          <p:cNvSpPr>
            <a:spLocks noGrp="1"/>
          </p:cNvSpPr>
          <p:nvPr/>
        </p:nvSpPr>
        <p:spPr>
          <a:xfrm>
            <a:off x="5562600" y="2006600"/>
            <a:ext cx="2057400" cy="914400"/>
          </a:xfrm>
          <a:prstGeom prst="rect">
            <a:avLst/>
          </a:prstGeom>
          <a:solidFill>
            <a:srgbClr val="DCE3DC"/>
          </a:solidFill>
          <a:ln w="25400">
            <a:solidFill>
              <a:srgbClr val="355C52"/>
            </a:solidFill>
          </a:ln>
        </p:spPr>
        <p:txBody>
          <a:bodyPr/>
          <a:lstStyle/>
          <a:p/>
        </p:txBody>
      </p:sp>
      <p:sp>
        <p:nvSpPr>
          <p:cNvPr id="15" name="node-orch-text"/>
          <p:cNvSpPr>
            <a:spLocks noGrp="1"/>
          </p:cNvSpPr>
          <p:nvPr/>
        </p:nvSpPr>
        <p:spPr>
          <a:xfrm>
            <a:off x="5715000" y="2159000"/>
            <a:ext cx="17526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5000"/>
              </a:lnSpc>
              <a:buNone/>
            </a:pP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Agent Orchestrator</a:t>
            </a:r>
            <a:b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</a:b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plan / revise / repair loop</a:t>
            </a:r>
            <a:endParaRPr sz="1200"/>
          </a:p>
        </p:txBody>
      </p:sp>
      <p:sp>
        <p:nvSpPr>
          <p:cNvPr id="16" name="node-llm"/>
          <p:cNvSpPr>
            <a:spLocks noGrp="1"/>
          </p:cNvSpPr>
          <p:nvPr/>
        </p:nvSpPr>
        <p:spPr>
          <a:xfrm>
            <a:off x="5562600" y="3454400"/>
            <a:ext cx="2057400" cy="609600"/>
          </a:xfrm>
          <a:prstGeom prst="rect">
            <a:avLst/>
          </a:prstGeom>
          <a:solidFill>
            <a:srgbClr val="FFFDF8"/>
          </a:solidFill>
          <a:ln w="12700">
            <a:solidFill>
              <a:srgbClr val="B96A4B"/>
            </a:solidFill>
          </a:ln>
        </p:spPr>
        <p:txBody>
          <a:bodyPr/>
          <a:lstStyle/>
          <a:p/>
        </p:txBody>
      </p:sp>
      <p:sp>
        <p:nvSpPr>
          <p:cNvPr id="17" name="node-llm-text"/>
          <p:cNvSpPr>
            <a:spLocks noGrp="1"/>
          </p:cNvSpPr>
          <p:nvPr/>
        </p:nvSpPr>
        <p:spPr>
          <a:xfrm>
            <a:off x="5689600" y="3556000"/>
            <a:ext cx="180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LLM</a:t>
            </a:r>
            <a:b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</a:b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understand / plan / explain</a:t>
            </a:r>
            <a:endParaRPr sz="1200"/>
          </a:p>
        </p:txBody>
      </p:sp>
      <p:sp>
        <p:nvSpPr>
          <p:cNvPr id="18" name="node-tools"/>
          <p:cNvSpPr>
            <a:spLocks noGrp="1"/>
          </p:cNvSpPr>
          <p:nvPr/>
        </p:nvSpPr>
        <p:spPr>
          <a:xfrm>
            <a:off x="5562600" y="4597400"/>
            <a:ext cx="2057400" cy="685800"/>
          </a:xfrm>
          <a:prstGeom prst="rect">
            <a:avLst/>
          </a:prstGeom>
          <a:solidFill>
            <a:srgbClr val="FFFDF8"/>
          </a:solidFill>
          <a:ln w="12700">
            <a:solidFill>
              <a:srgbClr val="B96A4B"/>
            </a:solidFill>
          </a:ln>
        </p:spPr>
        <p:txBody>
          <a:bodyPr/>
          <a:lstStyle/>
          <a:p/>
        </p:txBody>
      </p:sp>
      <p:sp>
        <p:nvSpPr>
          <p:cNvPr id="19" name="node-tools-text"/>
          <p:cNvSpPr>
            <a:spLocks noGrp="1"/>
          </p:cNvSpPr>
          <p:nvPr/>
        </p:nvSpPr>
        <p:spPr>
          <a:xfrm>
            <a:off x="5689600" y="4699000"/>
            <a:ext cx="18034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External Tools</a:t>
            </a:r>
            <a:b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</a:b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maps / POI / weather</a:t>
            </a:r>
            <a:endParaRPr sz="1200"/>
          </a:p>
        </p:txBody>
      </p:sp>
      <p:sp>
        <p:nvSpPr>
          <p:cNvPr id="20" name="arrow-orch-llm"/>
          <p:cNvSpPr>
            <a:spLocks noGrp="1"/>
          </p:cNvSpPr>
          <p:nvPr/>
        </p:nvSpPr>
        <p:spPr>
          <a:xfrm>
            <a:off x="6477000" y="2946400"/>
            <a:ext cx="152400" cy="457200"/>
          </a:xfrm>
          <a:custGeom>
            <a:avLst/>
            <a:gdLst/>
            <a:ahLst/>
            <a:cxnLst/>
            <a:rect l="l" t="t" r="r" b="b"/>
            <a:pathLst>
              <a:path w="12" h="36">
                <a:moveTo>
                  <a:pt x="6" y="0"/>
                </a:moveTo>
                <a:lnTo>
                  <a:pt x="6" y="36"/>
                </a:lnTo>
              </a:path>
            </a:pathLst>
          </a:custGeom>
          <a:noFill/>
          <a:ln w="25400">
            <a:solidFill>
              <a:srgbClr val="355C52"/>
            </a:solidFill>
            <a:tailEnd type="stealth"/>
          </a:ln>
        </p:spPr>
        <p:txBody>
          <a:bodyPr/>
          <a:lstStyle/>
          <a:p/>
        </p:txBody>
      </p:sp>
      <p:sp>
        <p:nvSpPr>
          <p:cNvPr id="21" name="arrow-orch-tools"/>
          <p:cNvSpPr>
            <a:spLocks noGrp="1"/>
          </p:cNvSpPr>
          <p:nvPr/>
        </p:nvSpPr>
        <p:spPr>
          <a:xfrm>
            <a:off x="6934200" y="2946400"/>
            <a:ext cx="152400" cy="1600200"/>
          </a:xfrm>
          <a:custGeom>
            <a:avLst/>
            <a:gdLst/>
            <a:ahLst/>
            <a:cxnLst/>
            <a:rect l="l" t="t" r="r" b="b"/>
            <a:pathLst>
              <a:path w="12" h="126">
                <a:moveTo>
                  <a:pt x="6" y="0"/>
                </a:moveTo>
                <a:lnTo>
                  <a:pt x="6" y="126"/>
                </a:lnTo>
              </a:path>
            </a:pathLst>
          </a:custGeom>
          <a:noFill/>
          <a:ln w="25400">
            <a:solidFill>
              <a:srgbClr val="355C52"/>
            </a:solidFill>
            <a:tailEnd type="stealth"/>
          </a:ln>
        </p:spPr>
        <p:txBody>
          <a:bodyPr/>
          <a:lstStyle/>
          <a:p/>
        </p:txBody>
      </p:sp>
      <p:sp>
        <p:nvSpPr>
          <p:cNvPr id="22" name="node-validator"/>
          <p:cNvSpPr>
            <a:spLocks noGrp="1"/>
          </p:cNvSpPr>
          <p:nvPr/>
        </p:nvSpPr>
        <p:spPr>
          <a:xfrm>
            <a:off x="2946400" y="4064000"/>
            <a:ext cx="2006600" cy="812800"/>
          </a:xfrm>
          <a:prstGeom prst="rect">
            <a:avLst/>
          </a:prstGeom>
          <a:solidFill>
            <a:srgbClr val="E9D2C7"/>
          </a:solidFill>
          <a:ln w="25400">
            <a:solidFill>
              <a:srgbClr val="B96A4B"/>
            </a:solidFill>
          </a:ln>
        </p:spPr>
        <p:txBody>
          <a:bodyPr/>
          <a:lstStyle/>
          <a:p/>
        </p:txBody>
      </p:sp>
      <p:sp>
        <p:nvSpPr>
          <p:cNvPr id="23" name="node-validator-text"/>
          <p:cNvSpPr>
            <a:spLocks noGrp="1"/>
          </p:cNvSpPr>
          <p:nvPr/>
        </p:nvSpPr>
        <p:spPr>
          <a:xfrm>
            <a:off x="3098800" y="4203700"/>
            <a:ext cx="1701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5000"/>
              </a:lnSpc>
              <a:buNone/>
            </a:pP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Deterministic Validator</a:t>
            </a:r>
            <a:b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</a:b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time / budget / route / schema</a:t>
            </a:r>
            <a:endParaRPr sz="1200"/>
          </a:p>
        </p:txBody>
      </p:sp>
      <p:sp>
        <p:nvSpPr>
          <p:cNvPr id="24" name="arrow-llm-val"/>
          <p:cNvSpPr>
            <a:spLocks noGrp="1"/>
          </p:cNvSpPr>
          <p:nvPr/>
        </p:nvSpPr>
        <p:spPr>
          <a:xfrm>
            <a:off x="5003800" y="3708400"/>
            <a:ext cx="533400" cy="431800"/>
          </a:xfrm>
          <a:custGeom>
            <a:avLst/>
            <a:gdLst/>
            <a:ahLst/>
            <a:cxnLst/>
            <a:rect l="l" t="t" r="r" b="b"/>
            <a:pathLst>
              <a:path w="42" h="34">
                <a:moveTo>
                  <a:pt x="42" y="0"/>
                </a:moveTo>
                <a:lnTo>
                  <a:pt x="0" y="34"/>
                </a:lnTo>
              </a:path>
            </a:pathLst>
          </a:custGeom>
          <a:noFill/>
          <a:ln w="25400">
            <a:solidFill>
              <a:srgbClr val="B96A4B"/>
            </a:solidFill>
            <a:tailEnd type="stealth"/>
          </a:ln>
        </p:spPr>
        <p:txBody>
          <a:bodyPr/>
          <a:lstStyle/>
          <a:p/>
        </p:txBody>
      </p:sp>
      <p:sp>
        <p:nvSpPr>
          <p:cNvPr id="25" name="arrow-tools-val"/>
          <p:cNvSpPr>
            <a:spLocks noGrp="1"/>
          </p:cNvSpPr>
          <p:nvPr/>
        </p:nvSpPr>
        <p:spPr>
          <a:xfrm>
            <a:off x="5003800" y="4572000"/>
            <a:ext cx="533400" cy="330200"/>
          </a:xfrm>
          <a:custGeom>
            <a:avLst/>
            <a:gdLst/>
            <a:ahLst/>
            <a:cxnLst/>
            <a:rect l="l" t="t" r="r" b="b"/>
            <a:pathLst>
              <a:path w="42" h="26">
                <a:moveTo>
                  <a:pt x="42" y="26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B96A4B"/>
            </a:solidFill>
            <a:tailEnd type="stealth"/>
          </a:ln>
        </p:spPr>
        <p:txBody>
          <a:bodyPr/>
          <a:lstStyle/>
          <a:p/>
        </p:txBody>
      </p:sp>
      <p:sp>
        <p:nvSpPr>
          <p:cNvPr id="26" name="arrow-val-api"/>
          <p:cNvSpPr>
            <a:spLocks noGrp="1"/>
          </p:cNvSpPr>
          <p:nvPr/>
        </p:nvSpPr>
        <p:spPr>
          <a:xfrm>
            <a:off x="3810000" y="2844800"/>
            <a:ext cx="152400" cy="1168400"/>
          </a:xfrm>
          <a:custGeom>
            <a:avLst/>
            <a:gdLst/>
            <a:ahLst/>
            <a:cxnLst/>
            <a:rect l="l" t="t" r="r" b="b"/>
            <a:pathLst>
              <a:path w="12" h="92">
                <a:moveTo>
                  <a:pt x="6" y="92"/>
                </a:moveTo>
                <a:lnTo>
                  <a:pt x="6" y="0"/>
                </a:lnTo>
              </a:path>
            </a:pathLst>
          </a:custGeom>
          <a:noFill/>
          <a:ln w="25400">
            <a:solidFill>
              <a:srgbClr val="355C52"/>
            </a:solidFill>
            <a:tailEnd type="stealth"/>
          </a:ln>
        </p:spPr>
        <p:txBody>
          <a:bodyPr/>
          <a:lstStyle/>
          <a:p/>
        </p:txBody>
      </p:sp>
      <p:sp>
        <p:nvSpPr>
          <p:cNvPr id="27" name="arrow-val-orch"/>
          <p:cNvSpPr>
            <a:spLocks noGrp="1"/>
          </p:cNvSpPr>
          <p:nvPr/>
        </p:nvSpPr>
        <p:spPr>
          <a:xfrm>
            <a:off x="5003800" y="2667000"/>
            <a:ext cx="508000" cy="1346200"/>
          </a:xfrm>
          <a:custGeom>
            <a:avLst/>
            <a:gdLst/>
            <a:ahLst/>
            <a:cxnLst/>
            <a:rect l="l" t="t" r="r" b="b"/>
            <a:pathLst>
              <a:path w="40" h="106">
                <a:moveTo>
                  <a:pt x="0" y="106"/>
                </a:moveTo>
                <a:quadBezTo>
                  <a:pt x="20" y="64"/>
                  <a:pt x="40" y="0"/>
                </a:quadBezTo>
              </a:path>
            </a:pathLst>
          </a:custGeom>
          <a:noFill/>
          <a:ln w="12700">
            <a:solidFill>
              <a:srgbClr val="9A3F38"/>
            </a:solidFill>
            <a:prstDash val="dash"/>
            <a:tailEnd type="stealth"/>
          </a:ln>
        </p:spPr>
        <p:txBody>
          <a:bodyPr/>
          <a:lstStyle/>
          <a:p/>
        </p:txBody>
      </p:sp>
      <p:sp>
        <p:nvSpPr>
          <p:cNvPr id="28" name="conflict-label"/>
          <p:cNvSpPr>
            <a:spLocks noGrp="1"/>
          </p:cNvSpPr>
          <p:nvPr/>
        </p:nvSpPr>
        <p:spPr>
          <a:xfrm>
            <a:off x="4876800" y="30480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900">
                <a:solidFill>
                  <a:srgbClr val="9A3F38"/>
                </a:solidFill>
                <a:latin typeface="MiSans" charset="-122"/>
                <a:ea typeface="MiSans" charset="-122"/>
                <a:cs typeface="MiSans" charset="-122"/>
              </a:rPr>
              <a:t>conflict</a:t>
            </a:r>
            <a:br>
              <a:rPr sz="900">
                <a:solidFill>
                  <a:srgbClr val="9A3F38"/>
                </a:solidFill>
                <a:latin typeface="MiSans" charset="-122"/>
                <a:ea typeface="MiSans" charset="-122"/>
                <a:cs typeface="MiSans" charset="-122"/>
              </a:rPr>
            </a:br>
            <a:r>
              <a:rPr sz="900">
                <a:solidFill>
                  <a:srgbClr val="9A3F38"/>
                </a:solidFill>
                <a:latin typeface="MiSans" charset="-122"/>
                <a:ea typeface="MiSans" charset="-122"/>
                <a:cs typeface="MiSans" charset="-122"/>
              </a:rPr>
              <a:t>+ evidence</a:t>
            </a:r>
            <a:endParaRPr sz="900"/>
          </a:p>
        </p:txBody>
      </p:sp>
      <p:sp>
        <p:nvSpPr>
          <p:cNvPr id="29" name="node-store"/>
          <p:cNvSpPr>
            <a:spLocks noGrp="1"/>
          </p:cNvSpPr>
          <p:nvPr/>
        </p:nvSpPr>
        <p:spPr>
          <a:xfrm>
            <a:off x="1041400" y="4191000"/>
            <a:ext cx="1600200" cy="685800"/>
          </a:xfrm>
          <a:prstGeom prst="rect">
            <a:avLst/>
          </a:prstGeom>
          <a:solidFill>
            <a:srgbClr val="FFFDF8"/>
          </a:solidFill>
          <a:ln w="12700">
            <a:solidFill>
              <a:srgbClr val="355C52"/>
            </a:solidFill>
          </a:ln>
        </p:spPr>
        <p:txBody>
          <a:bodyPr/>
          <a:lstStyle/>
          <a:p/>
        </p:txBody>
      </p:sp>
      <p:sp>
        <p:nvSpPr>
          <p:cNvPr id="30" name="node-store-text"/>
          <p:cNvSpPr>
            <a:spLocks noGrp="1"/>
          </p:cNvSpPr>
          <p:nvPr/>
        </p:nvSpPr>
        <p:spPr>
          <a:xfrm>
            <a:off x="1168400" y="4305300"/>
            <a:ext cx="1346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lang="en-US" altLang="zh-CN"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PostgreSQL</a:t>
            </a:r>
            <a:b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</a:b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Trip / Place / Item</a:t>
            </a:r>
            <a:endParaRPr sz="1200"/>
          </a:p>
        </p:txBody>
      </p:sp>
      <p:sp>
        <p:nvSpPr>
          <p:cNvPr id="31" name="arrow-api-store"/>
          <p:cNvSpPr>
            <a:spLocks noGrp="1"/>
          </p:cNvSpPr>
          <p:nvPr/>
        </p:nvSpPr>
        <p:spPr>
          <a:xfrm>
            <a:off x="1727200" y="2844800"/>
            <a:ext cx="152400" cy="1295400"/>
          </a:xfrm>
          <a:custGeom>
            <a:avLst/>
            <a:gdLst/>
            <a:ahLst/>
            <a:cxnLst/>
            <a:rect l="l" t="t" r="r" b="b"/>
            <a:pathLst>
              <a:path w="12" h="102">
                <a:moveTo>
                  <a:pt x="6" y="0"/>
                </a:moveTo>
                <a:lnTo>
                  <a:pt x="6" y="102"/>
                </a:lnTo>
              </a:path>
            </a:pathLst>
          </a:custGeom>
          <a:noFill/>
          <a:ln w="25400">
            <a:solidFill>
              <a:srgbClr val="355C52"/>
            </a:solidFill>
            <a:tailEnd type="stealth"/>
          </a:ln>
        </p:spPr>
        <p:txBody>
          <a:bodyPr/>
          <a:lstStyle/>
          <a:p/>
        </p:txBody>
      </p:sp>
      <p:sp>
        <p:nvSpPr>
          <p:cNvPr id="32" name="human-line"/>
          <p:cNvSpPr>
            <a:spLocks noGrp="1"/>
          </p:cNvSpPr>
          <p:nvPr/>
        </p:nvSpPr>
        <p:spPr>
          <a:xfrm>
            <a:off x="1066800" y="5384800"/>
            <a:ext cx="6553200" cy="101600"/>
          </a:xfrm>
          <a:custGeom>
            <a:avLst/>
            <a:gdLst/>
            <a:ahLst/>
            <a:cxnLst/>
            <a:rect l="l" t="t" r="r" b="b"/>
            <a:pathLst>
              <a:path w="516" h="8">
                <a:moveTo>
                  <a:pt x="0" y="4"/>
                </a:moveTo>
                <a:lnTo>
                  <a:pt x="516" y="4"/>
                </a:lnTo>
              </a:path>
            </a:pathLst>
          </a:custGeom>
          <a:noFill/>
          <a:ln w="25400">
            <a:solidFill>
              <a:srgbClr val="263238"/>
            </a:solidFill>
            <a:tailEnd type="stealth"/>
          </a:ln>
        </p:spPr>
        <p:txBody>
          <a:bodyPr/>
          <a:lstStyle/>
          <a:p/>
        </p:txBody>
      </p:sp>
      <p:sp>
        <p:nvSpPr>
          <p:cNvPr id="33" name="human-label"/>
          <p:cNvSpPr>
            <a:spLocks noGrp="1"/>
          </p:cNvSpPr>
          <p:nvPr/>
        </p:nvSpPr>
        <p:spPr>
          <a:xfrm>
            <a:off x="1066800" y="5537200"/>
            <a:ext cx="6553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External actions (map / calendar): preview → explicit confirm → execute → final status logged</a:t>
            </a:r>
            <a:endParaRPr sz="1000"/>
          </a:p>
        </p:txBody>
      </p:sp>
      <p:sp>
        <p:nvSpPr>
          <p:cNvPr id="34" name="controls-title"/>
          <p:cNvSpPr>
            <a:spLocks noGrp="1"/>
          </p:cNvSpPr>
          <p:nvPr/>
        </p:nvSpPr>
        <p:spPr>
          <a:xfrm>
            <a:off x="8661400" y="15494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50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What the AI does</a:t>
            </a:r>
            <a:endParaRPr sz="1500"/>
          </a:p>
        </p:txBody>
      </p:sp>
      <p:sp>
        <p:nvSpPr>
          <p:cNvPr id="35" name="controls-list"/>
          <p:cNvSpPr>
            <a:spLocks noGrp="1"/>
          </p:cNvSpPr>
          <p:nvPr/>
        </p:nvSpPr>
        <p:spPr>
          <a:xfrm>
            <a:off x="8661400" y="1930400"/>
            <a:ext cx="2819400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sz="11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01</a:t>
            </a:r>
            <a:r>
              <a:rPr sz="11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</a:t>
            </a:r>
            <a:r>
              <a:rPr sz="11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Understand</a:t>
            </a:r>
            <a:endParaRPr sz="1100"/>
          </a:p>
          <a:p>
            <a:pPr marL="330200">
              <a:lnSpc>
                <a:spcPct val="125000"/>
              </a:lnSpc>
              <a:buNone/>
            </a:pPr>
            <a:r>
              <a:rPr sz="11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Needs → structured constraints</a:t>
            </a:r>
            <a:endParaRPr sz="1100"/>
          </a:p>
          <a:p>
            <a:pPr>
              <a:lnSpc>
                <a:spcPct val="125000"/>
              </a:lnSpc>
              <a:spcBef>
                <a:spcPts val="600"/>
              </a:spcBef>
              <a:buNone/>
            </a:pPr>
            <a:r>
              <a:rPr sz="11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02</a:t>
            </a:r>
            <a:r>
              <a:rPr sz="11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</a:t>
            </a:r>
            <a:r>
              <a:rPr sz="11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Generate</a:t>
            </a:r>
            <a:endParaRPr sz="1100"/>
          </a:p>
          <a:p>
            <a:pPr marL="330200">
              <a:lnSpc>
                <a:spcPct val="125000"/>
              </a:lnSpc>
              <a:buNone/>
            </a:pPr>
            <a:r>
              <a:rPr sz="11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Candidate plan + per-item reasons</a:t>
            </a:r>
            <a:endParaRPr sz="1100"/>
          </a:p>
          <a:p>
            <a:pPr>
              <a:lnSpc>
                <a:spcPct val="125000"/>
              </a:lnSpc>
              <a:spcBef>
                <a:spcPts val="600"/>
              </a:spcBef>
              <a:buNone/>
            </a:pPr>
            <a:r>
              <a:rPr sz="11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03</a:t>
            </a:r>
            <a:r>
              <a:rPr sz="11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</a:t>
            </a:r>
            <a:r>
              <a:rPr sz="11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Revise</a:t>
            </a:r>
            <a:endParaRPr sz="1100"/>
          </a:p>
          <a:p>
            <a:pPr marL="330200">
              <a:lnSpc>
                <a:spcPct val="125000"/>
              </a:lnSpc>
              <a:buNone/>
            </a:pPr>
            <a:r>
              <a:rPr sz="11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Apply changes, summarize diffs</a:t>
            </a:r>
            <a:endParaRPr sz="1100"/>
          </a:p>
        </p:txBody>
      </p:sp>
      <p:sp>
        <p:nvSpPr>
          <p:cNvPr id="36" name="not-title"/>
          <p:cNvSpPr>
            <a:spLocks noGrp="1"/>
          </p:cNvSpPr>
          <p:nvPr/>
        </p:nvSpPr>
        <p:spPr>
          <a:xfrm>
            <a:off x="8661400" y="3657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300" b="1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Not the AI's job</a:t>
            </a:r>
            <a:endParaRPr sz="1300"/>
          </a:p>
        </p:txBody>
      </p:sp>
      <p:sp>
        <p:nvSpPr>
          <p:cNvPr id="37" name="not-list"/>
          <p:cNvSpPr>
            <a:spLocks noGrp="1"/>
          </p:cNvSpPr>
          <p:nvPr/>
        </p:nvSpPr>
        <p:spPr>
          <a:xfrm>
            <a:off x="8661400" y="3962400"/>
            <a:ext cx="2819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— Facts come from tools, with source &amp; query time</a:t>
            </a:r>
            <a:endParaRPr sz="1000"/>
          </a:p>
          <a:p>
            <a:pPr>
              <a:lnSpc>
                <a:spcPct val="135000"/>
              </a:lnSpc>
              <a:buNone/>
            </a:pPr>
            <a:r>
              <a:rPr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— Code checks time, budget, route, schema</a:t>
            </a:r>
            <a:endParaRPr sz="1000"/>
          </a:p>
          <a:p>
            <a:pPr>
              <a:lnSpc>
                <a:spcPct val="135000"/>
              </a:lnSpc>
              <a:buNone/>
            </a:pPr>
            <a:r>
              <a:rPr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— Actions need preview + explicit confirmation</a:t>
            </a:r>
            <a:endParaRPr sz="1000"/>
          </a:p>
        </p:txBody>
      </p:sp>
      <p:sp>
        <p:nvSpPr>
          <p:cNvPr id="38" name="key-message-rule"/>
          <p:cNvSpPr>
            <a:spLocks noGrp="1"/>
          </p:cNvSpPr>
          <p:nvPr/>
        </p:nvSpPr>
        <p:spPr>
          <a:xfrm>
            <a:off x="8661400" y="4978400"/>
            <a:ext cx="2819400" cy="25400"/>
          </a:xfrm>
          <a:prstGeom prst="rect">
            <a:avLst/>
          </a:prstGeom>
          <a:solidFill>
            <a:srgbClr val="B96A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key-message"/>
          <p:cNvSpPr>
            <a:spLocks noGrp="1"/>
          </p:cNvSpPr>
          <p:nvPr/>
        </p:nvSpPr>
        <p:spPr>
          <a:xfrm>
            <a:off x="8661400" y="5156200"/>
            <a:ext cx="2819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30000"/>
              </a:lnSpc>
              <a:buNone/>
            </a:pPr>
            <a:r>
              <a:rPr sz="1500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The LLM proposes; tools provide facts; deterministic checks validate; the user confirms.</a:t>
            </a:r>
            <a:endParaRPr sz="1500"/>
          </a:p>
        </p:txBody>
      </p:sp>
      <p:sp>
        <p:nvSpPr>
          <p:cNvPr id="40" name="footer"/>
          <p:cNvSpPr>
            <a:spLocks noGrp="1"/>
          </p:cNvSpPr>
          <p:nvPr/>
        </p:nvSpPr>
        <p:spPr>
          <a:xfrm>
            <a:off x="711200" y="64770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sz="9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Stack: React + TypeScript / FastAPI / PostgreSQL / LLM API / Amap Web API / weather API</a:t>
            </a:r>
            <a:endParaRPr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-rule"/>
          <p:cNvSpPr>
            <a:spLocks noGrp="1"/>
          </p:cNvSpPr>
          <p:nvPr/>
        </p:nvSpPr>
        <p:spPr>
          <a:xfrm>
            <a:off x="711200" y="482600"/>
            <a:ext cx="10769600" cy="127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-label"/>
          <p:cNvSpPr>
            <a:spLocks noGrp="1"/>
          </p:cNvSpPr>
          <p:nvPr/>
        </p:nvSpPr>
        <p:spPr>
          <a:xfrm>
            <a:off x="711200" y="2159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0</a:t>
            </a:r>
            <a:r>
              <a:rPr lang="en-US"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6</a:t>
            </a: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 · RISKS &amp; VERIFICATION</a:t>
            </a:r>
            <a:endParaRPr sz="1100"/>
          </a:p>
        </p:txBody>
      </p:sp>
      <p:sp>
        <p:nvSpPr>
          <p:cNvPr id="4" name="page-no"/>
          <p:cNvSpPr>
            <a:spLocks noGrp="1"/>
          </p:cNvSpPr>
          <p:nvPr/>
        </p:nvSpPr>
        <p:spPr>
          <a:xfrm>
            <a:off x="11049000" y="215900"/>
            <a:ext cx="431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lang="en-US" sz="1000"/>
              <a:t>13</a:t>
            </a:r>
            <a:endParaRPr lang="en-US" sz="1000"/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711200" y="736600"/>
            <a:ext cx="107696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5000"/>
              </a:lnSpc>
              <a:buNone/>
            </a:pPr>
            <a:r>
              <a:rPr sz="2700" b="1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Six priority risks, each with mitigation and a pass gate</a:t>
            </a:r>
            <a:endParaRPr sz="2700"/>
          </a:p>
        </p:txBody>
      </p:sp>
      <p:graphicFrame>
        <p:nvGraphicFramePr>
          <p:cNvPr id="16" name="risk-table"/>
          <p:cNvGraphicFramePr/>
          <p:nvPr/>
        </p:nvGraphicFramePr>
        <p:xfrm>
          <a:off x="711200" y="1530350"/>
          <a:ext cx="10769600" cy="4089400"/>
        </p:xfrm>
        <a:graphic>
          <a:graphicData uri="http://schemas.openxmlformats.org/drawingml/2006/table">
            <a:tbl>
              <a:tblPr/>
              <a:tblGrid>
                <a:gridCol w="538480"/>
                <a:gridCol w="2907792"/>
                <a:gridCol w="3984752"/>
                <a:gridCol w="3338576"/>
              </a:tblGrid>
              <a:tr h="36804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 b="1">
                          <a:solidFill>
                            <a:srgbClr val="355C52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ID</a:t>
                      </a:r>
                      <a:endParaRPr sz="1100" b="1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DCE3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 b="1">
                          <a:solidFill>
                            <a:srgbClr val="355C52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Main risk</a:t>
                      </a:r>
                      <a:endParaRPr sz="1100" b="1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DCE3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 b="1">
                          <a:solidFill>
                            <a:srgbClr val="355C52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Mitigation</a:t>
                      </a:r>
                      <a:endParaRPr sz="1100" b="1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DCE3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 b="1">
                          <a:solidFill>
                            <a:srgbClr val="355C52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Planned verification / pass criterion</a:t>
                      </a:r>
                      <a:endParaRPr sz="1100" b="1">
                        <a:solidFill>
                          <a:srgbClr val="355C52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8C0B3"/>
                      </a:solidFill>
                    </a:lnB>
                    <a:solidFill>
                      <a:srgbClr val="DCE3DC"/>
                    </a:solidFill>
                  </a:tcPr>
                </a:tc>
              </a:tr>
              <a:tr h="62036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 b="1">
                          <a:solidFill>
                            <a:srgbClr val="B96A4B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R1</a:t>
                      </a:r>
                      <a:endParaRPr sz="1100" b="1">
                        <a:solidFill>
                          <a:srgbClr val="B96A4B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Hallucinated or stale travel facts</a:t>
                      </a:r>
                      <a:endParaRPr sz="11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Facts grounded in tools; source + query time kept; estimates labeled</a:t>
                      </a:r>
                      <a:endParaRPr sz="11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≥95% of factual fields traceable; 0 invented opening hours / prices</a:t>
                      </a:r>
                      <a:endParaRPr sz="11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</a:tr>
              <a:tr h="62036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 b="1">
                          <a:solidFill>
                            <a:srgbClr val="B96A4B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R2</a:t>
                      </a:r>
                      <a:endParaRPr sz="1100" b="1">
                        <a:solidFill>
                          <a:srgbClr val="B96A4B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Plan violates time, budget, route, or user constraints</a:t>
                      </a:r>
                      <a:endParaRPr sz="11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Structured constraints; hard / soft separated; code validation; conflicts returned to a repair loop</a:t>
                      </a:r>
                      <a:endParaRPr sz="11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100% hard-constraint detection; ≥90% conflict-detection recall</a:t>
                      </a:r>
                      <a:endParaRPr sz="11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</a:tr>
              <a:tr h="62036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 b="1">
                          <a:solidFill>
                            <a:srgbClr val="B96A4B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R3</a:t>
                      </a:r>
                      <a:endParaRPr sz="1100" b="1">
                        <a:solidFill>
                          <a:srgbClr val="B96A4B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External API timeout, 429, or empty results</a:t>
                      </a:r>
                      <a:endParaRPr sz="11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Timeout + retry with backoff; caching; quota &amp; cost alerts; degraded mode</a:t>
                      </a:r>
                      <a:endParaRPr sz="11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Fault injection: 0 crashes; 100% recoverable status; 0 false success</a:t>
                      </a:r>
                      <a:endParaRPr sz="11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</a:tr>
              <a:tr h="62036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 b="1">
                          <a:solidFill>
                            <a:srgbClr val="B96A4B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R4</a:t>
                      </a:r>
                      <a:endParaRPr sz="1100" b="1">
                        <a:solidFill>
                          <a:srgbClr val="B96A4B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Unconfirmed, wrong, or duplicate external actions</a:t>
                      </a:r>
                      <a:endParaRPr sz="11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Preview → explicit confirm; least privilege; allowlist; idempotency key; action log</a:t>
                      </a:r>
                      <a:endParaRPr sz="11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0 writes before confirmation; 0 duplicate events on retry</a:t>
                      </a:r>
                      <a:endParaRPr sz="11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</a:tr>
              <a:tr h="62036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 b="1">
                          <a:solidFill>
                            <a:srgbClr val="B96A4B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R5</a:t>
                      </a:r>
                      <a:endParaRPr sz="1100" b="1">
                        <a:solidFill>
                          <a:srgbClr val="B96A4B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Prompt injection or unsafe model output</a:t>
                      </a:r>
                      <a:endParaRPr sz="11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Imported text treated as untrusted data; schema, parameter, and output validation</a:t>
                      </a:r>
                      <a:endParaRPr sz="11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≥10 red-team cases; 0 unauthorized tool calls or leaks</a:t>
                      </a:r>
                      <a:endParaRPr sz="11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</a:tr>
              <a:tr h="619544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 b="1">
                          <a:solidFill>
                            <a:srgbClr val="B96A4B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R6</a:t>
                      </a:r>
                      <a:endParaRPr sz="1100" b="1">
                        <a:solidFill>
                          <a:srgbClr val="B96A4B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Scope &amp; integration risk across six members</a:t>
                      </a:r>
                      <a:endParaRPr sz="11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Core workflow and data contract frozen first; mock data; early vertical slice</a:t>
                      </a:r>
                      <a:endParaRPr sz="11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sz="1100">
                          <a:solidFill>
                            <a:srgbClr val="263238"/>
                          </a:solidFill>
                          <a:latin typeface="MiSans" charset="-122"/>
                          <a:ea typeface="MiSans" charset="-122"/>
                          <a:cs typeface="MiSans" charset="-122"/>
                        </a:rPr>
                        <a:t>End-to-end acceptance passes before optional features</a:t>
                      </a:r>
                      <a:endParaRPr sz="1100">
                        <a:solidFill>
                          <a:srgbClr val="263238"/>
                        </a:solidFill>
                        <a:latin typeface="MiSans" charset="-122"/>
                        <a:ea typeface="MiSans" charset="-122"/>
                        <a:cs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8C0B3"/>
                      </a:solidFill>
                      <a:prstDash val="solid"/>
                    </a:lnT>
                    <a:lnB w="12700">
                      <a:solidFill>
                        <a:srgbClr val="C8C0B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isk-note"/>
          <p:cNvSpPr>
            <a:spLocks noGrp="1"/>
          </p:cNvSpPr>
          <p:nvPr/>
        </p:nvSpPr>
        <p:spPr>
          <a:xfrm>
            <a:off x="711200" y="59182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sz="9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Targets are proposal-stage baselines, calibrated after pilots; safety zero-tolerance metrics stay at 0.</a:t>
            </a:r>
            <a:endParaRPr sz="900"/>
          </a:p>
        </p:txBody>
      </p:sp>
      <p:sp>
        <p:nvSpPr>
          <p:cNvPr id="8" name="redline-rule"/>
          <p:cNvSpPr>
            <a:spLocks noGrp="1"/>
          </p:cNvSpPr>
          <p:nvPr/>
        </p:nvSpPr>
        <p:spPr>
          <a:xfrm>
            <a:off x="8128000" y="5842000"/>
            <a:ext cx="3352800" cy="25400"/>
          </a:xfrm>
          <a:prstGeom prst="rect">
            <a:avLst/>
          </a:prstGeom>
          <a:solidFill>
            <a:srgbClr val="9A3F3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dline"/>
          <p:cNvSpPr>
            <a:spLocks noGrp="1"/>
          </p:cNvSpPr>
          <p:nvPr/>
        </p:nvSpPr>
        <p:spPr>
          <a:xfrm>
            <a:off x="8128000" y="5969000"/>
            <a:ext cx="3457575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sz="1100" b="1">
                <a:solidFill>
                  <a:srgbClr val="9A3F38"/>
                </a:solidFill>
                <a:latin typeface="MiSans" charset="-122"/>
                <a:ea typeface="MiSans" charset="-122"/>
                <a:cs typeface="MiSans" charset="-122"/>
              </a:rPr>
              <a:t>Red lines: unconfirmed writes = 0; false success = 0</a:t>
            </a:r>
            <a:endParaRPr sz="1100"/>
          </a:p>
        </p:txBody>
      </p:sp>
      <p:sp>
        <p:nvSpPr>
          <p:cNvPr id="10" name="footer"/>
          <p:cNvSpPr>
            <a:spLocks noGrp="1"/>
          </p:cNvSpPr>
          <p:nvPr/>
        </p:nvSpPr>
        <p:spPr>
          <a:xfrm>
            <a:off x="711200" y="64770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sz="9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Risk source: System Design &amp; Work Plan material, section 3 — risk register R1–R6 with pass criteria</a:t>
            </a:r>
            <a:endParaRPr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-rule"/>
          <p:cNvSpPr>
            <a:spLocks noGrp="1"/>
          </p:cNvSpPr>
          <p:nvPr/>
        </p:nvSpPr>
        <p:spPr>
          <a:xfrm>
            <a:off x="711200" y="482600"/>
            <a:ext cx="10769600" cy="127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-label"/>
          <p:cNvSpPr>
            <a:spLocks noGrp="1"/>
          </p:cNvSpPr>
          <p:nvPr/>
        </p:nvSpPr>
        <p:spPr>
          <a:xfrm>
            <a:off x="711200" y="2159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0</a:t>
            </a:r>
            <a:r>
              <a:rPr lang="en-US"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7</a:t>
            </a:r>
            <a:r>
              <a:rPr sz="1100" b="1" spc="12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 · WORK PLAN</a:t>
            </a:r>
            <a:endParaRPr sz="1100"/>
          </a:p>
        </p:txBody>
      </p:sp>
      <p:sp>
        <p:nvSpPr>
          <p:cNvPr id="4" name="page-no"/>
          <p:cNvSpPr>
            <a:spLocks noGrp="1"/>
          </p:cNvSpPr>
          <p:nvPr/>
        </p:nvSpPr>
        <p:spPr>
          <a:xfrm>
            <a:off x="11049000" y="215900"/>
            <a:ext cx="431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1</a:t>
            </a:r>
            <a:r>
              <a:rPr lang="en-US" sz="10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4</a:t>
            </a:r>
            <a:endParaRPr lang="en-US" sz="10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711200" y="736600"/>
            <a:ext cx="107696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5000"/>
              </a:lnSpc>
              <a:buNone/>
            </a:pPr>
            <a:r>
              <a:rPr sz="2700" b="1"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Work plan: freeze the baseline, slice early, verify by metrics</a:t>
            </a:r>
            <a:endParaRPr sz="2700"/>
          </a:p>
        </p:txBody>
      </p:sp>
      <p:sp>
        <p:nvSpPr>
          <p:cNvPr id="6" name="phase-line"/>
          <p:cNvSpPr>
            <a:spLocks noGrp="1"/>
          </p:cNvSpPr>
          <p:nvPr/>
        </p:nvSpPr>
        <p:spPr>
          <a:xfrm>
            <a:off x="1041400" y="1771650"/>
            <a:ext cx="10109200" cy="25400"/>
          </a:xfrm>
          <a:prstGeom prst="rect">
            <a:avLst/>
          </a:prstGeom>
          <a:solidFill>
            <a:srgbClr val="355C5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phase-1-dot"/>
          <p:cNvSpPr>
            <a:spLocks noGrp="1"/>
          </p:cNvSpPr>
          <p:nvPr/>
        </p:nvSpPr>
        <p:spPr>
          <a:xfrm>
            <a:off x="889000" y="1631950"/>
            <a:ext cx="304800" cy="304800"/>
          </a:xfrm>
          <a:prstGeom prst="ellipse">
            <a:avLst/>
          </a:prstGeom>
          <a:solidFill>
            <a:srgbClr val="B96A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hase-2-dot"/>
          <p:cNvSpPr>
            <a:spLocks noGrp="1"/>
          </p:cNvSpPr>
          <p:nvPr/>
        </p:nvSpPr>
        <p:spPr>
          <a:xfrm>
            <a:off x="2921000" y="1657350"/>
            <a:ext cx="254000" cy="254000"/>
          </a:xfrm>
          <a:prstGeom prst="ellipse">
            <a:avLst/>
          </a:prstGeom>
          <a:solidFill>
            <a:srgbClr val="FFFDF8"/>
          </a:solidFill>
          <a:ln w="38100">
            <a:solidFill>
              <a:srgbClr val="355C52"/>
            </a:solidFill>
          </a:ln>
        </p:spPr>
        <p:txBody>
          <a:bodyPr/>
          <a:lstStyle/>
          <a:p/>
        </p:txBody>
      </p:sp>
      <p:sp>
        <p:nvSpPr>
          <p:cNvPr id="9" name="phase-3-dot"/>
          <p:cNvSpPr>
            <a:spLocks noGrp="1"/>
          </p:cNvSpPr>
          <p:nvPr/>
        </p:nvSpPr>
        <p:spPr>
          <a:xfrm>
            <a:off x="4953000" y="1657350"/>
            <a:ext cx="254000" cy="254000"/>
          </a:xfrm>
          <a:prstGeom prst="ellipse">
            <a:avLst/>
          </a:prstGeom>
          <a:solidFill>
            <a:srgbClr val="FFFDF8"/>
          </a:solidFill>
          <a:ln w="38100">
            <a:solidFill>
              <a:srgbClr val="355C52"/>
            </a:solidFill>
          </a:ln>
        </p:spPr>
        <p:txBody>
          <a:bodyPr/>
          <a:lstStyle/>
          <a:p/>
        </p:txBody>
      </p:sp>
      <p:sp>
        <p:nvSpPr>
          <p:cNvPr id="10" name="phase-4-dot"/>
          <p:cNvSpPr>
            <a:spLocks noGrp="1"/>
          </p:cNvSpPr>
          <p:nvPr/>
        </p:nvSpPr>
        <p:spPr>
          <a:xfrm>
            <a:off x="6985000" y="1657350"/>
            <a:ext cx="254000" cy="254000"/>
          </a:xfrm>
          <a:prstGeom prst="ellipse">
            <a:avLst/>
          </a:prstGeom>
          <a:solidFill>
            <a:srgbClr val="FFFDF8"/>
          </a:solidFill>
          <a:ln w="38100">
            <a:solidFill>
              <a:srgbClr val="355C52"/>
            </a:solidFill>
          </a:ln>
        </p:spPr>
        <p:txBody>
          <a:bodyPr/>
          <a:lstStyle/>
          <a:p/>
        </p:txBody>
      </p:sp>
      <p:sp>
        <p:nvSpPr>
          <p:cNvPr id="11" name="phase-5-dot"/>
          <p:cNvSpPr>
            <a:spLocks noGrp="1"/>
          </p:cNvSpPr>
          <p:nvPr/>
        </p:nvSpPr>
        <p:spPr>
          <a:xfrm>
            <a:off x="9017000" y="1657350"/>
            <a:ext cx="254000" cy="254000"/>
          </a:xfrm>
          <a:prstGeom prst="ellipse">
            <a:avLst/>
          </a:prstGeom>
          <a:solidFill>
            <a:srgbClr val="FFFDF8"/>
          </a:solidFill>
          <a:ln w="38100">
            <a:solidFill>
              <a:srgbClr val="355C52"/>
            </a:solidFill>
          </a:ln>
        </p:spPr>
        <p:txBody>
          <a:bodyPr/>
          <a:lstStyle/>
          <a:p/>
        </p:txBody>
      </p:sp>
      <p:sp>
        <p:nvSpPr>
          <p:cNvPr id="12" name="phase-6-dot"/>
          <p:cNvSpPr>
            <a:spLocks noGrp="1"/>
          </p:cNvSpPr>
          <p:nvPr/>
        </p:nvSpPr>
        <p:spPr>
          <a:xfrm>
            <a:off x="10998200" y="1631950"/>
            <a:ext cx="304800" cy="304800"/>
          </a:xfrm>
          <a:prstGeom prst="ellipse">
            <a:avLst/>
          </a:prstGeom>
          <a:solidFill>
            <a:srgbClr val="355C5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hase-label-1"/>
          <p:cNvSpPr>
            <a:spLocks noGrp="1"/>
          </p:cNvSpPr>
          <p:nvPr/>
        </p:nvSpPr>
        <p:spPr>
          <a:xfrm>
            <a:off x="152400" y="2200275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Scope &amp; contract</a:t>
            </a:r>
            <a:endParaRPr sz="1400" b="1"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4" name="phase-sub-1"/>
          <p:cNvSpPr>
            <a:spLocks noGrp="1"/>
          </p:cNvSpPr>
          <p:nvPr/>
        </p:nvSpPr>
        <p:spPr>
          <a:xfrm>
            <a:off x="152400" y="2479675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buNone/>
            </a:pPr>
            <a:r>
              <a:rPr sz="12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JSON schema, API, pages frozen</a:t>
            </a:r>
            <a:endParaRPr sz="12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5" name="phase-label-2"/>
          <p:cNvSpPr>
            <a:spLocks noGrp="1"/>
          </p:cNvSpPr>
          <p:nvPr/>
        </p:nvSpPr>
        <p:spPr>
          <a:xfrm>
            <a:off x="2159000" y="2200275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Parallel prototypes</a:t>
            </a:r>
            <a:endParaRPr sz="1400" b="1"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6" name="phase-sub-2"/>
          <p:cNvSpPr>
            <a:spLocks noGrp="1"/>
          </p:cNvSpPr>
          <p:nvPr/>
        </p:nvSpPr>
        <p:spPr>
          <a:xfrm>
            <a:off x="2159000" y="2479675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buNone/>
            </a:pPr>
            <a:r>
              <a:rPr sz="12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Frontend mock, backend, prompts</a:t>
            </a:r>
            <a:endParaRPr sz="12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7" name="phase-label-3"/>
          <p:cNvSpPr>
            <a:spLocks noGrp="1"/>
          </p:cNvSpPr>
          <p:nvPr/>
        </p:nvSpPr>
        <p:spPr>
          <a:xfrm>
            <a:off x="4191000" y="2200275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First vertical slice</a:t>
            </a:r>
            <a:endParaRPr sz="1400" b="1"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8" name="phase-sub-3"/>
          <p:cNvSpPr>
            <a:spLocks noGrp="1"/>
          </p:cNvSpPr>
          <p:nvPr/>
        </p:nvSpPr>
        <p:spPr>
          <a:xfrm>
            <a:off x="4191000" y="2479675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buNone/>
            </a:pPr>
            <a:r>
              <a:rPr sz="12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Input → plan → validate → UI</a:t>
            </a:r>
            <a:endParaRPr sz="12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19" name="phase-label-4"/>
          <p:cNvSpPr>
            <a:spLocks noGrp="1"/>
          </p:cNvSpPr>
          <p:nvPr/>
        </p:nvSpPr>
        <p:spPr>
          <a:xfrm>
            <a:off x="6223000" y="2200275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Revision &amp; actions</a:t>
            </a:r>
            <a:endParaRPr sz="1400" b="1"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0" name="phase-sub-4"/>
          <p:cNvSpPr>
            <a:spLocks noGrp="1"/>
          </p:cNvSpPr>
          <p:nvPr/>
        </p:nvSpPr>
        <p:spPr>
          <a:xfrm>
            <a:off x="6223000" y="2479675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buNone/>
            </a:pPr>
            <a:r>
              <a:rPr sz="12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Edit, re-check, confirmed actions</a:t>
            </a:r>
            <a:endParaRPr sz="12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1" name="phase-label-5"/>
          <p:cNvSpPr>
            <a:spLocks noGrp="1"/>
          </p:cNvSpPr>
          <p:nvPr/>
        </p:nvSpPr>
        <p:spPr>
          <a:xfrm>
            <a:off x="8255000" y="2200275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Verification &amp; pilot</a:t>
            </a:r>
            <a:endParaRPr sz="1400" b="1"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2" name="phase-sub-5"/>
          <p:cNvSpPr>
            <a:spLocks noGrp="1"/>
          </p:cNvSpPr>
          <p:nvPr/>
        </p:nvSpPr>
        <p:spPr>
          <a:xfrm>
            <a:off x="8255000" y="2479675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buNone/>
            </a:pPr>
            <a:r>
              <a:rPr sz="12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20-task eval set, usability test</a:t>
            </a:r>
            <a:endParaRPr sz="12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3" name="phase-label-6"/>
          <p:cNvSpPr>
            <a:spLocks noGrp="1"/>
          </p:cNvSpPr>
          <p:nvPr/>
        </p:nvSpPr>
        <p:spPr>
          <a:xfrm>
            <a:off x="10261600" y="2200275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Extensions</a:t>
            </a:r>
            <a:endParaRPr sz="1400" b="1">
              <a:solidFill>
                <a:srgbClr val="263238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4" name="phase-sub-6"/>
          <p:cNvSpPr>
            <a:spLocks noGrp="1"/>
          </p:cNvSpPr>
          <p:nvPr/>
        </p:nvSpPr>
        <p:spPr>
          <a:xfrm>
            <a:off x="10261600" y="2479675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buNone/>
            </a:pPr>
            <a:r>
              <a:rPr sz="12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Link parsing, OCR, auto re-plan</a:t>
            </a:r>
            <a:endParaRPr sz="1200">
              <a:solidFill>
                <a:srgbClr val="6E6A6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25" name="flow-caption"/>
          <p:cNvSpPr>
            <a:spLocks noGrp="1"/>
          </p:cNvSpPr>
          <p:nvPr/>
        </p:nvSpPr>
        <p:spPr>
          <a:xfrm>
            <a:off x="711200" y="3149600"/>
            <a:ext cx="812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sz="9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Baseline fixed; priorities refined after user research; each module has an owner and a handoff artifact.</a:t>
            </a:r>
            <a:endParaRPr sz="900"/>
          </a:p>
        </p:txBody>
      </p:sp>
      <p:sp>
        <p:nvSpPr>
          <p:cNvPr id="26" name="roles-rule"/>
          <p:cNvSpPr>
            <a:spLocks noGrp="1"/>
          </p:cNvSpPr>
          <p:nvPr/>
        </p:nvSpPr>
        <p:spPr>
          <a:xfrm>
            <a:off x="711200" y="3606800"/>
            <a:ext cx="6705600" cy="25400"/>
          </a:xfrm>
          <a:prstGeom prst="rect">
            <a:avLst/>
          </a:prstGeom>
          <a:solidFill>
            <a:srgbClr val="B96A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oles-title"/>
          <p:cNvSpPr>
            <a:spLocks noGrp="1"/>
          </p:cNvSpPr>
          <p:nvPr/>
        </p:nvSpPr>
        <p:spPr>
          <a:xfrm>
            <a:off x="711200" y="38100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6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Implementation roles — six members</a:t>
            </a:r>
            <a:endParaRPr sz="1600"/>
          </a:p>
        </p:txBody>
      </p:sp>
      <p:sp>
        <p:nvSpPr>
          <p:cNvPr id="28" name="roles-list"/>
          <p:cNvSpPr>
            <a:spLocks noGrp="1"/>
          </p:cNvSpPr>
          <p:nvPr/>
        </p:nvSpPr>
        <p:spPr>
          <a:xfrm>
            <a:off x="711200" y="4241800"/>
            <a:ext cx="6756400" cy="187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2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01</a:t>
            </a:r>
            <a:r>
              <a:rPr sz="12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</a:t>
            </a: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Tech 1</a:t>
            </a:r>
            <a:r>
              <a:rPr sz="12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 — Web frontend: timeline, map &amp; editing interactions</a:t>
            </a:r>
            <a:endParaRPr sz="1200"/>
          </a:p>
          <a:p>
            <a:pPr>
              <a:lnSpc>
                <a:spcPct val="150000"/>
              </a:lnSpc>
              <a:buNone/>
            </a:pPr>
            <a:r>
              <a:rPr sz="12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02</a:t>
            </a:r>
            <a:r>
              <a:rPr sz="12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</a:t>
            </a: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Tech 2</a:t>
            </a:r>
            <a:r>
              <a:rPr sz="12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 — Backend: PostgreSQL, map / weather APIs, validation</a:t>
            </a:r>
            <a:endParaRPr sz="1200"/>
          </a:p>
          <a:p>
            <a:pPr>
              <a:lnSpc>
                <a:spcPct val="150000"/>
              </a:lnSpc>
              <a:buNone/>
            </a:pPr>
            <a:r>
              <a:rPr sz="12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03</a:t>
            </a:r>
            <a:r>
              <a:rPr sz="12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</a:t>
            </a: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Tech 3</a:t>
            </a:r>
            <a:r>
              <a:rPr sz="12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 — Agent: LLM, prompts, structured output, conflict detection, evals</a:t>
            </a:r>
            <a:endParaRPr sz="1200"/>
          </a:p>
          <a:p>
            <a:pPr>
              <a:lnSpc>
                <a:spcPct val="150000"/>
              </a:lnSpc>
              <a:buNone/>
            </a:pPr>
            <a:r>
              <a:rPr sz="12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04</a:t>
            </a:r>
            <a:r>
              <a:rPr sz="12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</a:t>
            </a: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Design 1</a:t>
            </a:r>
            <a:r>
              <a:rPr sz="12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 — Core page UI: itinerary, collaboration, ledger</a:t>
            </a:r>
            <a:endParaRPr sz="1200"/>
          </a:p>
          <a:p>
            <a:pPr>
              <a:lnSpc>
                <a:spcPct val="150000"/>
              </a:lnSpc>
              <a:buNone/>
            </a:pPr>
            <a:r>
              <a:rPr sz="1200" b="1">
                <a:solidFill>
                  <a:srgbClr val="B96A4B"/>
                </a:solidFill>
                <a:latin typeface="MiSans" charset="-122"/>
                <a:ea typeface="MiSans" charset="-122"/>
                <a:cs typeface="MiSans" charset="-122"/>
              </a:rPr>
              <a:t>05</a:t>
            </a:r>
            <a:r>
              <a:rPr sz="12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　</a:t>
            </a:r>
            <a:r>
              <a:rPr sz="12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Design 2 + 3</a:t>
            </a:r>
            <a:r>
              <a:rPr sz="1200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 — Edit / confirm / empty states; visual system &amp; map styles</a:t>
            </a:r>
            <a:endParaRPr sz="1200"/>
          </a:p>
        </p:txBody>
      </p:sp>
      <p:sp>
        <p:nvSpPr>
          <p:cNvPr id="29" name="right-divider"/>
          <p:cNvSpPr>
            <a:spLocks noGrp="1"/>
          </p:cNvSpPr>
          <p:nvPr/>
        </p:nvSpPr>
        <p:spPr>
          <a:xfrm>
            <a:off x="8026400" y="3708400"/>
            <a:ext cx="12700" cy="2413000"/>
          </a:xfrm>
          <a:prstGeom prst="rect">
            <a:avLst/>
          </a:prstGeom>
          <a:solidFill>
            <a:srgbClr val="C8C0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prin-title"/>
          <p:cNvSpPr>
            <a:spLocks noGrp="1"/>
          </p:cNvSpPr>
          <p:nvPr/>
        </p:nvSpPr>
        <p:spPr>
          <a:xfrm>
            <a:off x="8483600" y="3810000"/>
            <a:ext cx="299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1600" b="1">
                <a:solidFill>
                  <a:srgbClr val="263238"/>
                </a:solidFill>
                <a:latin typeface="MiSans" charset="-122"/>
                <a:ea typeface="MiSans" charset="-122"/>
                <a:cs typeface="MiSans" charset="-122"/>
              </a:rPr>
              <a:t>Working principles</a:t>
            </a:r>
            <a:endParaRPr sz="1600"/>
          </a:p>
        </p:txBody>
      </p:sp>
      <p:sp>
        <p:nvSpPr>
          <p:cNvPr id="31" name="prin-list"/>
          <p:cNvSpPr>
            <a:spLocks noGrp="1"/>
          </p:cNvSpPr>
          <p:nvPr/>
        </p:nvSpPr>
        <p:spPr>
          <a:xfrm>
            <a:off x="8483600" y="4267200"/>
            <a:ext cx="29972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— Contract first: schema before code</a:t>
            </a:r>
            <a:endParaRPr sz="1200"/>
          </a:p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— Mock data unblocks parallel work</a:t>
            </a:r>
            <a:endParaRPr sz="1200"/>
          </a:p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— Docs synced with every change</a:t>
            </a:r>
            <a:endParaRPr sz="1200"/>
          </a:p>
          <a:p>
            <a:pPr>
              <a:lnSpc>
                <a:spcPct val="150000"/>
              </a:lnSpc>
              <a:buNone/>
            </a:pPr>
            <a:r>
              <a:rPr sz="12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— Everyone explains the whole system</a:t>
            </a:r>
            <a:endParaRPr sz="1200"/>
          </a:p>
        </p:txBody>
      </p:sp>
      <p:sp>
        <p:nvSpPr>
          <p:cNvPr id="32" name="prin-rule"/>
          <p:cNvSpPr>
            <a:spLocks noGrp="1"/>
          </p:cNvSpPr>
          <p:nvPr/>
        </p:nvSpPr>
        <p:spPr>
          <a:xfrm>
            <a:off x="8483600" y="5740400"/>
            <a:ext cx="2997200" cy="12700"/>
          </a:xfrm>
          <a:prstGeom prst="rect">
            <a:avLst/>
          </a:prstGeom>
          <a:solidFill>
            <a:srgbClr val="355C52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prin-note"/>
          <p:cNvSpPr>
            <a:spLocks noGrp="1"/>
          </p:cNvSpPr>
          <p:nvPr/>
        </p:nvSpPr>
        <p:spPr>
          <a:xfrm>
            <a:off x="8483600" y="5892800"/>
            <a:ext cx="29972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35000"/>
              </a:lnSpc>
              <a:buNone/>
            </a:pPr>
            <a:r>
              <a:rPr sz="1100">
                <a:solidFill>
                  <a:srgbClr val="355C52"/>
                </a:solidFill>
                <a:latin typeface="MiSans" charset="-122"/>
                <a:ea typeface="MiSans" charset="-122"/>
                <a:cs typeface="MiSans" charset="-122"/>
              </a:rPr>
              <a:t>Proposal stage needs no runnable system; feasibility is argued via design, risks, and verification.</a:t>
            </a:r>
            <a:endParaRPr sz="1100"/>
          </a:p>
        </p:txBody>
      </p:sp>
      <p:sp>
        <p:nvSpPr>
          <p:cNvPr id="34" name="footer"/>
          <p:cNvSpPr>
            <a:spLocks noGrp="1"/>
          </p:cNvSpPr>
          <p:nvPr/>
        </p:nvSpPr>
        <p:spPr>
          <a:xfrm>
            <a:off x="711200" y="64770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5000"/>
              </a:lnSpc>
              <a:buNone/>
            </a:pPr>
            <a:r>
              <a:rPr sz="900">
                <a:solidFill>
                  <a:srgbClr val="6E6A61"/>
                </a:solidFill>
                <a:latin typeface="MiSans" charset="-122"/>
                <a:ea typeface="MiSans" charset="-122"/>
                <a:cs typeface="MiSans" charset="-122"/>
              </a:rPr>
              <a:t>Plan source: System Design &amp; Work Plan material — work-plan sequence and long-term role mapping</a:t>
            </a:r>
            <a:endParaRPr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-green-band"/>
          <p:cNvSpPr>
            <a:spLocks noGrp="1"/>
          </p:cNvSpPr>
          <p:nvPr/>
        </p:nvSpPr>
        <p:spPr>
          <a:xfrm>
            <a:off x="0" y="0"/>
            <a:ext cx="812800" cy="6858000"/>
          </a:xfrm>
          <a:prstGeom prst="rect">
            <a:avLst/>
          </a:prstGeom>
          <a:solidFill>
            <a:srgbClr val="355C52"/>
          </a:solidFill>
          <a:ln>
            <a:noFill/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" name="cover-accent-band"/>
          <p:cNvSpPr>
            <a:spLocks noGrp="1"/>
          </p:cNvSpPr>
          <p:nvPr/>
        </p:nvSpPr>
        <p:spPr>
          <a:xfrm>
            <a:off x="812800" y="0"/>
            <a:ext cx="127000" cy="6858000"/>
          </a:xfrm>
          <a:prstGeom prst="rect">
            <a:avLst/>
          </a:prstGeom>
          <a:solidFill>
            <a:srgbClr val="B96A4B"/>
          </a:solidFill>
          <a:ln>
            <a:noFill/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6" name="cover-title"/>
          <p:cNvSpPr>
            <a:spLocks noGrp="1"/>
          </p:cNvSpPr>
          <p:nvPr/>
        </p:nvSpPr>
        <p:spPr>
          <a:xfrm>
            <a:off x="2476500" y="2364105"/>
            <a:ext cx="7239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marR="0" lvl="0" indent="0" algn="l" defTabSz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0" b="1" i="0" u="none" cap="none" spc="0">
                <a:ln>
                  <a:noFill/>
                </a:ln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   Thank</a:t>
            </a:r>
            <a:r>
              <a:rPr lang="en-US" sz="8000" b="1" i="0" u="none" cap="none" spc="0">
                <a:ln>
                  <a:noFill/>
                </a:ln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 you</a:t>
            </a:r>
            <a:r>
              <a:rPr sz="8000" b="1" i="0" u="none" cap="none" spc="0">
                <a:ln>
                  <a:noFill/>
                </a:ln>
                <a:solidFill>
                  <a:srgbClr val="263238"/>
                </a:solidFill>
                <a:latin typeface="思源宋体"/>
                <a:ea typeface="思源宋体"/>
                <a:cs typeface="思源宋体"/>
              </a:rPr>
              <a:t>！</a:t>
            </a:r>
            <a:endParaRPr sz="8000" b="1" i="0" u="none" kern="1200" cap="none" spc="0" baseline="0">
              <a:ln>
                <a:noFill/>
              </a:ln>
              <a:solidFill>
                <a:srgbClr val="263238"/>
              </a:solidFill>
              <a:latin typeface="思源宋体"/>
              <a:ea typeface="思源宋体"/>
              <a:cs typeface="思源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14029</Words>
  <Application>WPS 演示</Application>
  <PresentationFormat>Converted Presentation</PresentationFormat>
  <Paragraphs>655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宋体</vt:lpstr>
      <vt:lpstr>Wingdings</vt:lpstr>
      <vt:lpstr>MiSans</vt:lpstr>
      <vt:lpstr>思源宋体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思源宋体</vt:lpstr>
      <vt:lpstr>PPTD</vt:lpstr>
      <vt:lpstr>1_PPTD</vt:lpstr>
      <vt:lpstr>2_PPTD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Fly me 2 the </cp:lastModifiedBy>
  <cp:revision>2</cp:revision>
  <dcterms:created xsi:type="dcterms:W3CDTF">2026-10-09T18:34:32Z</dcterms:created>
  <dcterms:modified xsi:type="dcterms:W3CDTF">2026-10-09T18:34:32Z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0006E56E142194BCDE32C96AE8BC4981_42</vt:lpwstr>
  </property>
  <property fmtid="{D5CDD505-2E9C-101B-9397-08002B2CF9AE}" pid="3" name="KSOProductBuildVer">
    <vt:lpwstr>2052-7.2.1.8947</vt:lpwstr>
  </property>
</Properties>
</file>